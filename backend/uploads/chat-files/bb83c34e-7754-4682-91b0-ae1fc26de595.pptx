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82" r:id="rId3"/>
    <p:sldId id="347" r:id="rId5"/>
    <p:sldId id="343" r:id="rId6"/>
    <p:sldId id="341" r:id="rId7"/>
    <p:sldId id="345" r:id="rId8"/>
    <p:sldId id="389" r:id="rId9"/>
    <p:sldId id="388" r:id="rId10"/>
    <p:sldId id="365" r:id="rId11"/>
    <p:sldId id="348" r:id="rId12"/>
    <p:sldId id="366" r:id="rId13"/>
    <p:sldId id="367" r:id="rId14"/>
    <p:sldId id="376" r:id="rId15"/>
    <p:sldId id="377" r:id="rId16"/>
    <p:sldId id="378" r:id="rId17"/>
    <p:sldId id="379" r:id="rId18"/>
    <p:sldId id="380" r:id="rId19"/>
    <p:sldId id="381" r:id="rId20"/>
    <p:sldId id="385" r:id="rId21"/>
    <p:sldId id="382" r:id="rId22"/>
    <p:sldId id="386" r:id="rId23"/>
    <p:sldId id="387" r:id="rId24"/>
    <p:sldId id="358" r:id="rId25"/>
    <p:sldId id="384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770"/>
    <a:srgbClr val="4472C4"/>
    <a:srgbClr val="9F9F9F"/>
    <a:srgbClr val="0C234C"/>
    <a:srgbClr val="0070C0"/>
    <a:srgbClr val="021C4A"/>
    <a:srgbClr val="2F5597"/>
    <a:srgbClr val="21689C"/>
    <a:srgbClr val="035C9C"/>
    <a:srgbClr val="DFD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0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-498" y="-1758"/>
      </p:cViewPr>
      <p:guideLst>
        <p:guide orient="horz" pos="2160"/>
        <p:guide pos="39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10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6262-C5EE-49E8-82C9-5B482EFE47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321C3-B83B-4F67-8F2E-568770AE23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967392" y="6430009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0F19-8CFC-41BA-AB99-D3970B82F7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425F-DEC4-4455-AD0B-2B1C49DF35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web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12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1.png"/><Relationship Id="rId2" Type="http://schemas.openxmlformats.org/officeDocument/2006/relationships/tags" Target="../tags/tag1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13.png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://localhost:8080/0601Sys/login.jsp" TargetMode="Externa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组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83080" y="1645285"/>
            <a:ext cx="8774430" cy="1841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基于 </a:t>
            </a:r>
            <a:r>
              <a:rPr lang="en-US" altLang="zh-CN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SSM </a:t>
            </a: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的</a:t>
            </a: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社区医院管理系统设计与实现</a:t>
            </a:r>
            <a:endParaRPr lang="zh-CN" altLang="en-US" sz="4800">
              <a:solidFill>
                <a:srgbClr val="153770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0435" y="5194935"/>
            <a:ext cx="1028382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35000"/>
              </a:lnSpc>
            </a:pP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23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级计算机科学与技术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02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班    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   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         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组别：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四组</a:t>
            </a:r>
            <a:endParaRPr lang="zh-CN" altLang="en-US" sz="16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533775" y="4091940"/>
            <a:ext cx="5124450" cy="558800"/>
            <a:chOff x="5565" y="6444"/>
            <a:chExt cx="8070" cy="880"/>
          </a:xfrm>
        </p:grpSpPr>
        <p:grpSp>
          <p:nvGrpSpPr>
            <p:cNvPr id="16" name="组合 15"/>
            <p:cNvGrpSpPr/>
            <p:nvPr/>
          </p:nvGrpSpPr>
          <p:grpSpPr>
            <a:xfrm>
              <a:off x="5565" y="6444"/>
              <a:ext cx="8070" cy="880"/>
              <a:chOff x="5565" y="6444"/>
              <a:chExt cx="8070" cy="880"/>
            </a:xfrm>
          </p:grpSpPr>
          <p:pic>
            <p:nvPicPr>
              <p:cNvPr id="13" name="图片 12" descr="组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65" y="6444"/>
                <a:ext cx="8070" cy="880"/>
              </a:xfrm>
              <a:prstGeom prst="rect">
                <a:avLst/>
              </a:prstGeom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6285" y="6522"/>
                <a:ext cx="663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000">
                    <a:solidFill>
                      <a:srgbClr val="68552E"/>
                    </a:solidFill>
                    <a:latin typeface="思源宋体 CN Heavy" panose="02020900000000000000" charset="-122"/>
                    <a:ea typeface="思源宋体 CN Heavy" panose="02020900000000000000" charset="-122"/>
                  </a:rPr>
                  <a:t>医疗信息化项目</a:t>
                </a:r>
                <a:r>
                  <a:rPr lang="zh-CN" altLang="en-US" sz="2000">
                    <a:solidFill>
                      <a:srgbClr val="68552E"/>
                    </a:solidFill>
                    <a:latin typeface="思源宋体 CN Heavy" panose="02020900000000000000" charset="-122"/>
                    <a:ea typeface="思源宋体 CN Heavy" panose="02020900000000000000" charset="-122"/>
                  </a:rPr>
                  <a:t>实战</a:t>
                </a:r>
                <a:endParaRPr lang="zh-CN" altLang="en-US" sz="2000">
                  <a:solidFill>
                    <a:srgbClr val="68552E"/>
                  </a:solidFill>
                  <a:latin typeface="思源宋体 CN Heavy" panose="02020900000000000000" charset="-122"/>
                  <a:ea typeface="思源宋体 CN Heavy" panose="02020900000000000000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109" y="6790"/>
              <a:ext cx="6994" cy="188"/>
              <a:chOff x="6109" y="6781"/>
              <a:chExt cx="6994" cy="1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6109" y="6781"/>
                <a:ext cx="188" cy="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2915" y="6781"/>
                <a:ext cx="188" cy="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" grpId="0"/>
      <p:bldP spid="5" grpId="1"/>
      <p:bldP spid="18" grpId="0"/>
      <p:bldP spid="1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组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5428"/>
            <a:ext cx="12192000" cy="3827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31415" y="2054225"/>
            <a:ext cx="73018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PART 01</a:t>
            </a:r>
            <a:endParaRPr lang="zh-CN" altLang="en-US" sz="7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pPr algn="ctr">
              <a:defRPr/>
            </a:pP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+mn-lt"/>
              </a:rPr>
              <a:t>绪 论</a:t>
            </a:r>
            <a:endParaRPr lang="zh-CN" altLang="en-US" sz="7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思源宋体 CN Heavy" panose="02020900000000000000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4348" y="4406265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University academic reporting graduation reply template</a:t>
            </a:r>
            <a:endParaRPr lang="zh-CN" altLang="en-US" sz="1600">
              <a:solidFill>
                <a:schemeClr val="bg1"/>
              </a:solidFill>
              <a:latin typeface="思源宋体 CN Light" panose="02020300000000000000" charset="-122"/>
              <a:ea typeface="思源宋体 CN Light" panose="020203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0642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 Heavy" panose="02020900000000000000" charset="-122"/>
                  <a:sym typeface="+mn-lt"/>
                </a:rPr>
                <a:t>绪 论</a:t>
              </a:r>
              <a:endParaRPr lang="en-US" altLang="zh-CN" sz="18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思源宋体 CN Heavy" panose="02020900000000000000" charset="-122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6951345" y="1185545"/>
            <a:ext cx="4547235" cy="3491865"/>
            <a:chOff x="11026" y="2891"/>
            <a:chExt cx="7161" cy="5499"/>
          </a:xfrm>
        </p:grpSpPr>
        <p:sp>
          <p:nvSpPr>
            <p:cNvPr id="42" name="矩形 1"/>
            <p:cNvSpPr>
              <a:spLocks noChangeArrowheads="1"/>
            </p:cNvSpPr>
            <p:nvPr/>
          </p:nvSpPr>
          <p:spPr bwMode="auto">
            <a:xfrm>
              <a:off x="11346" y="3291"/>
              <a:ext cx="6841" cy="4699"/>
            </a:xfrm>
            <a:prstGeom prst="rect">
              <a:avLst/>
            </a:prstGeom>
            <a:noFill/>
            <a:ln w="9525">
              <a:noFill/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22843" tIns="61422" rIns="122843" bIns="61422" anchor="ctr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+mn-lt"/>
                </a:rPr>
                <a:t>项目背景</a:t>
              </a:r>
              <a:endParaRPr lang="zh-CN" altLang="en-US" sz="2000" dirty="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+mn-lt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业务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数据分散</a:t>
              </a: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，流程具有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先后顺序</a:t>
              </a:r>
              <a:endParaRPr lang="zh-CN" altLang="en-US" sz="17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endParaRPr>
            </a:p>
            <a:p>
              <a:pPr marL="285750" indent="-2857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社区门诊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业务流程多</a:t>
              </a: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，角色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权限复杂</a:t>
              </a:r>
              <a:endParaRPr lang="zh-CN" altLang="en-US" sz="17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endParaRPr>
            </a:p>
            <a:p>
              <a:pPr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2800" b="1" dirty="0">
                  <a:solidFill>
                    <a:schemeClr val="tx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+mn-lt"/>
                </a:rPr>
                <a:t>功能目标</a:t>
              </a:r>
              <a:endParaRPr lang="zh-CN" altLang="en-US" sz="2800" b="1" dirty="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完成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多个角色之间</a:t>
              </a: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的</a:t>
              </a: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交互</a:t>
              </a:r>
              <a:endParaRPr lang="zh-CN" altLang="en-US" sz="1700" dirty="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+mn-lt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700" dirty="0">
                  <a:solidFill>
                    <a:schemeClr val="tx1"/>
                  </a:solidFill>
                  <a:latin typeface="思源黑体 CN Regular" panose="020B0500000000000000" charset="-122"/>
                  <a:ea typeface="思源黑体 CN Regular" panose="020B0500000000000000" charset="-122"/>
                  <a:cs typeface="思源黑体 CN Regular" panose="020B0500000000000000" charset="-122"/>
                  <a:sym typeface="+mn-lt"/>
                </a:rPr>
                <a:t>通过数据库</a:t>
              </a:r>
              <a:r>
                <a:rPr lang="zh-CN" altLang="en-US" sz="1700" dirty="0">
                  <a:solidFill>
                    <a:srgbClr val="0070C0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Regular" panose="020B0500000000000000" charset="-122"/>
                  <a:sym typeface="+mn-lt"/>
                </a:rPr>
                <a:t>存储信息</a:t>
              </a:r>
              <a:endParaRPr lang="zh-CN" altLang="en-US" sz="1700" dirty="0">
                <a:solidFill>
                  <a:srgbClr val="0070C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  <a:sym typeface="+mn-lt"/>
              </a:endParaRPr>
            </a:p>
          </p:txBody>
        </p:sp>
        <p:sp>
          <p:nvSpPr>
            <p:cNvPr id="43" name="L 形 42"/>
            <p:cNvSpPr/>
            <p:nvPr/>
          </p:nvSpPr>
          <p:spPr>
            <a:xfrm rot="5400000">
              <a:off x="10986" y="2930"/>
              <a:ext cx="720" cy="641"/>
            </a:xfrm>
            <a:prstGeom prst="corner">
              <a:avLst>
                <a:gd name="adj1" fmla="val 25014"/>
                <a:gd name="adj2" fmla="val 23544"/>
              </a:avLst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2843" tIns="61422" rIns="122843" bIns="61422"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宋体 CN Light" panose="02020300000000000000" charset="-122"/>
                <a:ea typeface="思源宋体 CN Light" panose="02020300000000000000" charset="-122"/>
                <a:cs typeface="+mn-ea"/>
                <a:sym typeface="+mn-lt"/>
              </a:endParaRPr>
            </a:p>
          </p:txBody>
        </p:sp>
        <p:sp>
          <p:nvSpPr>
            <p:cNvPr id="44" name="L 形 43"/>
            <p:cNvSpPr/>
            <p:nvPr/>
          </p:nvSpPr>
          <p:spPr>
            <a:xfrm rot="16200000">
              <a:off x="17150" y="7709"/>
              <a:ext cx="720" cy="641"/>
            </a:xfrm>
            <a:prstGeom prst="corner">
              <a:avLst>
                <a:gd name="adj1" fmla="val 25014"/>
                <a:gd name="adj2" fmla="val 23544"/>
              </a:avLst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2843" tIns="61422" rIns="122843" bIns="61422"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宋体 CN Light" panose="02020300000000000000" charset="-122"/>
                <a:ea typeface="思源宋体 CN Light" panose="020203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81635" y="4832350"/>
            <a:ext cx="10899775" cy="1663065"/>
            <a:chOff x="2088" y="7489"/>
            <a:chExt cx="17165" cy="2619"/>
          </a:xfrm>
        </p:grpSpPr>
        <p:sp>
          <p:nvSpPr>
            <p:cNvPr id="46" name="矩形 45"/>
            <p:cNvSpPr/>
            <p:nvPr/>
          </p:nvSpPr>
          <p:spPr>
            <a:xfrm>
              <a:off x="2088" y="8220"/>
              <a:ext cx="17165" cy="188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indent="457200" algn="just" fontAlgn="auto">
                <a:lnSpc>
                  <a:spcPct val="150000"/>
                </a:lnSpc>
                <a:defRPr/>
              </a:pPr>
              <a:r>
                <a:rPr lang="zh-CN" altLang="en-US" sz="1600" kern="0" dirty="0">
                  <a:solidFill>
                    <a:schemeClr val="accent1">
                      <a:lumMod val="50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lt"/>
                </a:rPr>
                <a:t>传统门诊流程中，患者挂号后需要医生接诊，医生诊断后可能产生挂号费和药品费，患者缴费后药剂师才能发药。如果这些环节都靠人工记录，容易出现信息不同步、权限混乱、收费状态不清楚等问题。因此本项目把医院业务拆分成四类角色和多个数据表，通过系统完成流程管理。</a:t>
              </a:r>
              <a:endParaRPr lang="zh-CN" altLang="en-US" sz="1600" kern="0" dirty="0">
                <a:solidFill>
                  <a:schemeClr val="accent1">
                    <a:lumMod val="5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362" y="7489"/>
              <a:ext cx="3678" cy="725"/>
              <a:chOff x="2362" y="7466"/>
              <a:chExt cx="3678" cy="725"/>
            </a:xfrm>
          </p:grpSpPr>
          <p:sp>
            <p:nvSpPr>
              <p:cNvPr id="10" name="平行四边形 9"/>
              <p:cNvSpPr/>
              <p:nvPr/>
            </p:nvSpPr>
            <p:spPr>
              <a:xfrm>
                <a:off x="2362" y="7466"/>
                <a:ext cx="3678" cy="725"/>
              </a:xfrm>
              <a:prstGeom prst="parallelogram">
                <a:avLst/>
              </a:prstGeom>
              <a:gradFill>
                <a:gsLst>
                  <a:gs pos="0">
                    <a:srgbClr val="68552E"/>
                  </a:gs>
                  <a:gs pos="37000">
                    <a:srgbClr val="B99E5F"/>
                  </a:gs>
                  <a:gs pos="68000">
                    <a:srgbClr val="8B5A24"/>
                  </a:gs>
                  <a:gs pos="100000">
                    <a:srgbClr val="B99E5F"/>
                  </a:gs>
                </a:gsLst>
                <a:lin ang="5400000" scaled="0"/>
              </a:gra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平行四边形 5"/>
              <p:cNvSpPr/>
              <p:nvPr/>
            </p:nvSpPr>
            <p:spPr>
              <a:xfrm>
                <a:off x="2452" y="7466"/>
                <a:ext cx="3498" cy="725"/>
              </a:xfrm>
              <a:prstGeom prst="parallelogram">
                <a:avLst/>
              </a:prstGeom>
              <a:solidFill>
                <a:srgbClr val="153770"/>
              </a:solidFill>
              <a:ln w="508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思源宋体 CN Heavy" panose="02020900000000000000" charset="-122"/>
                    <a:ea typeface="思源宋体 CN Heavy" panose="02020900000000000000" charset="-122"/>
                    <a:cs typeface="思源宋体 CN Heavy" panose="02020900000000000000" charset="-122"/>
                    <a:sym typeface="+mn-lt"/>
                  </a:rPr>
                  <a:t>项目</a:t>
                </a:r>
                <a:r>
                  <a:rPr lang="zh-CN" altLang="en-US" sz="2400" dirty="0">
                    <a:solidFill>
                      <a:schemeClr val="bg1"/>
                    </a:solidFill>
                    <a:latin typeface="思源宋体 CN Heavy" panose="02020900000000000000" charset="-122"/>
                    <a:ea typeface="思源宋体 CN Heavy" panose="02020900000000000000" charset="-122"/>
                    <a:cs typeface="思源宋体 CN Heavy" panose="02020900000000000000" charset="-122"/>
                    <a:sym typeface="+mn-lt"/>
                  </a:rPr>
                  <a:t>实现</a:t>
                </a:r>
                <a:endParaRPr lang="zh-CN" altLang="en-US" sz="2400" dirty="0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思源宋体 CN Heavy" panose="02020900000000000000" charset="-122"/>
                  <a:sym typeface="+mn-lt"/>
                </a:endParaRPr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pic>
        <p:nvPicPr>
          <p:cNvPr id="9" name="图片 8" descr="C:/Users/15982/Desktop/java/1.1.webp1.1"/>
          <p:cNvPicPr>
            <a:picLocks noChangeAspect="1"/>
          </p:cNvPicPr>
          <p:nvPr/>
        </p:nvPicPr>
        <p:blipFill>
          <a:blip r:embed="rId2"/>
          <a:srcRect b="12100"/>
          <a:stretch>
            <a:fillRect/>
          </a:stretch>
        </p:blipFill>
        <p:spPr>
          <a:xfrm>
            <a:off x="1072515" y="1071880"/>
            <a:ext cx="5300345" cy="3430905"/>
          </a:xfrm>
          <a:prstGeom prst="rect">
            <a:avLst/>
          </a:prstGeom>
          <a:ln w="57150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组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5428"/>
            <a:ext cx="12192000" cy="3827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57425" y="2054225"/>
            <a:ext cx="826135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PART 0</a:t>
            </a:r>
            <a:r>
              <a:rPr lang="en-US" altLang="zh-CN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2</a:t>
            </a:r>
            <a:endParaRPr lang="zh-CN" altLang="en-US" sz="7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pPr algn="ctr">
              <a:defRPr/>
            </a:pP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项目结构与功能</a:t>
            </a: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开发</a:t>
            </a:r>
            <a:endParaRPr lang="zh-CN" altLang="en-US" sz="7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  <a:p>
            <a:pPr algn="ctr">
              <a:defRPr/>
            </a:pPr>
            <a:endParaRPr lang="zh-CN" altLang="en-US" sz="7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4348" y="431927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solidFill>
                  <a:schemeClr val="bg1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University academic reporting graduation reply template</a:t>
            </a:r>
            <a:endParaRPr lang="en-US" altLang="zh-CN" sz="1600">
              <a:solidFill>
                <a:schemeClr val="bg1"/>
              </a:solidFill>
              <a:latin typeface="思源宋体 CN Light" panose="02020300000000000000" charset="-122"/>
              <a:ea typeface="思源宋体 CN Light" panose="020203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项目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结构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75" name="图片 7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388225" y="2512060"/>
            <a:ext cx="4627245" cy="299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技术栈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：</a:t>
            </a:r>
            <a:r>
              <a:rPr lang="en-US" altLang="zh-CN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Spring MVC、Spring、MyBatis、JSP、MySQL、Maven、Tomcat</a:t>
            </a:r>
            <a:endParaRPr lang="en-US" altLang="zh-CN"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功能角色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：管理员、患者、药剂师、社区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医生</a:t>
            </a:r>
            <a:endParaRPr lang="zh-CN" altLang="en-US"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开发顺序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：首先配置项目依赖和 </a:t>
            </a:r>
            <a:r>
              <a:rPr lang="en-US" altLang="zh-CN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SSM 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框架，让请求可以进入 </a:t>
            </a:r>
            <a:r>
              <a:rPr lang="en-US" altLang="zh-CN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Controller；</a:t>
            </a:r>
            <a:r>
              <a:rPr lang="zh-CN" altLang="en-US"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</a:rPr>
              <a:t>然后设计数据库表；接着实现登录注册和角色权限；最后围绕门诊业务数据流转。</a:t>
            </a:r>
            <a:endParaRPr lang="zh-CN" altLang="en-US"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endParaRPr lang="zh-CN" altLang="en-US"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91490" y="1561465"/>
            <a:ext cx="11145520" cy="0"/>
          </a:xfrm>
          <a:prstGeom prst="line">
            <a:avLst/>
          </a:prstGeom>
          <a:ln w="444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7273290" y="1821815"/>
            <a:ext cx="4742180" cy="3833495"/>
          </a:xfrm>
          <a:prstGeom prst="roundRect">
            <a:avLst/>
          </a:prstGeom>
          <a:noFill/>
          <a:ln w="44450" cmpd="dbl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C:/Users/15982/Desktop/java/e222a5db-e0cf-471d-b24f-b0897de2ef0a.pnge222a5db-e0cf-471d-b24f-b0897de2ef0a"/>
          <p:cNvPicPr>
            <a:picLocks noChangeAspect="1"/>
          </p:cNvPicPr>
          <p:nvPr/>
        </p:nvPicPr>
        <p:blipFill>
          <a:blip r:embed="rId2"/>
          <a:srcRect t="8517" b="340"/>
          <a:stretch>
            <a:fillRect/>
          </a:stretch>
        </p:blipFill>
        <p:spPr>
          <a:xfrm>
            <a:off x="194945" y="1948815"/>
            <a:ext cx="6948805" cy="3636010"/>
          </a:xfrm>
          <a:prstGeom prst="rect">
            <a:avLst/>
          </a:prstGeom>
          <a:ln w="3492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7477125" y="2011045"/>
            <a:ext cx="1676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  <a:sym typeface="+mn-ea"/>
              </a:rPr>
              <a:t>核心逻辑</a:t>
            </a:r>
            <a:endParaRPr lang="zh-CN" altLang="en-US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604125" y="2494915"/>
            <a:ext cx="12700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4335" y="5751195"/>
            <a:ext cx="8661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“</a:t>
            </a:r>
            <a:endParaRPr lang="en-US" altLang="zh-CN" sz="5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18260" y="5972175"/>
            <a:ext cx="8450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项目按业务依赖顺序逐步开发，保证各功能的实现和</a:t>
            </a: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逻辑闭环。</a:t>
            </a:r>
            <a:endParaRPr lang="zh-CN" altLang="en-US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55975" y="986155"/>
            <a:ext cx="5518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开发顺序：先搭架构，再打通业务闭环</a:t>
            </a:r>
            <a:endParaRPr lang="zh-CN" altLang="en-US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项目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结构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75" name="图片 7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91490" y="1561465"/>
            <a:ext cx="11145520" cy="0"/>
          </a:xfrm>
          <a:prstGeom prst="line">
            <a:avLst/>
          </a:prstGeom>
          <a:ln w="444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150870" y="986155"/>
            <a:ext cx="6167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医院管理系统核心实体关系设计（用</a:t>
            </a: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例图）</a:t>
            </a:r>
            <a:endParaRPr lang="zh-CN" altLang="en-US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095365" y="3489960"/>
            <a:ext cx="5702300" cy="2839085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94755" y="1922145"/>
            <a:ext cx="5302885" cy="434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系统管理员作为核心管理角色，可以进入收费管理、药品管理、病历管理、挂号管理、医生管理、科室管理和患者管理等模块，对医院日常业务数据进行统一维护。</a:t>
            </a:r>
            <a:endParaRPr lang="zh-CN" altLang="en-US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从功能划分来看，系统管理员不仅可以完成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基础信息维护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，例如新增、修改、删除医生、科室、患者和药品信息，还可以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管理挂号状态、病历信息、库存信息以及收费记录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该图体现了管理员在系统中的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综合管理权限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，也说明本系统后台功能覆盖了医院门诊管理中的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主要业务环节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12" name="图片 11" descr="abbb0532-30d2-4faf-965a-288338b1b5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849755"/>
            <a:ext cx="4833620" cy="4833620"/>
          </a:xfrm>
          <a:prstGeom prst="rect">
            <a:avLst/>
          </a:prstGeom>
          <a:ln w="3492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项目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结构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75" name="图片 7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00520" y="2112010"/>
            <a:ext cx="5205095" cy="2602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患者可以产生多条挂号记录，每条挂号记录对应一名医生；医生隶属于科室，一个科室下可以包含多名医生。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algn="l" fontAlgn="auto">
              <a:lnSpc>
                <a:spcPct val="130000"/>
              </a:lnSpc>
              <a:buClrTx/>
              <a:buSzTx/>
              <a:buFontTx/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挂号完成后，医生根据患者就诊情况生成病历记录，从而形成“患者挂号 -&gt; 医生接诊 -&gt; 病历生成”的核心诊疗流程。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91490" y="1561465"/>
            <a:ext cx="11145520" cy="0"/>
          </a:xfrm>
          <a:prstGeom prst="line">
            <a:avLst/>
          </a:prstGeom>
          <a:ln w="444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6395720" y="1821815"/>
            <a:ext cx="5619750" cy="3106420"/>
          </a:xfrm>
          <a:prstGeom prst="roundRect">
            <a:avLst/>
          </a:prstGeom>
          <a:noFill/>
          <a:ln w="44450" cmpd="dbl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35375" y="986155"/>
            <a:ext cx="5518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医院管理系统核心实体关系设计（</a:t>
            </a:r>
            <a:r>
              <a:rPr lang="en-US" altLang="zh-CN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ER</a:t>
            </a: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图）</a:t>
            </a:r>
            <a:endParaRPr lang="zh-CN" altLang="en-US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" y="2074545"/>
            <a:ext cx="5958205" cy="2620645"/>
          </a:xfrm>
          <a:prstGeom prst="rect">
            <a:avLst/>
          </a:prstGeom>
          <a:ln w="34925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圆角矩形 10"/>
          <p:cNvSpPr/>
          <p:nvPr/>
        </p:nvSpPr>
        <p:spPr>
          <a:xfrm>
            <a:off x="504825" y="5125085"/>
            <a:ext cx="11292840" cy="144526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56920" y="5265420"/>
            <a:ext cx="10870565" cy="112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在收费与药品管理方面，患者可以对应多条收费单，收费单中记录挂号费或药品费用等项目；药品与收费单之间也存在关联，用于表示药品收费明细。通过这些实体关系，系统能够把患者就诊、医生诊断、费用生成和药品管理连接起来，为后续业务功能实现提供数据库结构基础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80" y="899160"/>
            <a:ext cx="4577080" cy="204279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2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SSM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框架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整合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75" name="图片 74" descr="组 4"/>
          <p:cNvPicPr>
            <a:picLocks noChangeAspect="1"/>
          </p:cNvPicPr>
          <p:nvPr/>
        </p:nvPicPr>
        <p:blipFill>
          <a:blip r:embed="rId2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492125" y="6218555"/>
            <a:ext cx="8743950" cy="494665"/>
          </a:xfrm>
          <a:prstGeom prst="roundRect">
            <a:avLst>
              <a:gd name="adj" fmla="val 50000"/>
            </a:avLst>
          </a:prstGeom>
          <a:noFill/>
          <a:ln w="254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3895" y="6280785"/>
            <a:ext cx="9371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JSP 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页面 -&gt; </a:t>
            </a:r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Spring MVC Controller -&gt; Service -&gt; MyBatis Mapper -&gt; MySQL</a:t>
            </a:r>
            <a:endParaRPr lang="en-US" altLang="zh-CN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2125" y="1020445"/>
            <a:ext cx="2818130" cy="197485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931410" y="1411605"/>
            <a:ext cx="3256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webapp/WEB-INF/web.xml</a:t>
            </a:r>
            <a:endParaRPr lang="en-US" altLang="zh-CN">
              <a:solidFill>
                <a:srgbClr val="0070C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31410" y="1847850"/>
            <a:ext cx="3256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配置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DispatcherServlet，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作为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Spring MVC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请求入口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13346"/>
          <a:stretch>
            <a:fillRect/>
          </a:stretch>
        </p:blipFill>
        <p:spPr>
          <a:xfrm>
            <a:off x="237490" y="3333750"/>
            <a:ext cx="4576445" cy="6013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4931410" y="3136265"/>
            <a:ext cx="4991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resources/spring-mvc.xml</a:t>
            </a:r>
            <a:endParaRPr lang="en-US" altLang="zh-CN">
              <a:solidFill>
                <a:srgbClr val="0070C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31410" y="3504565"/>
            <a:ext cx="3256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扫描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Controller，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并开启注解驱动。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" y="4441190"/>
            <a:ext cx="4576445" cy="144462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1" name="文本框 30"/>
          <p:cNvSpPr txBox="1"/>
          <p:nvPr/>
        </p:nvSpPr>
        <p:spPr>
          <a:xfrm>
            <a:off x="4931410" y="4435475"/>
            <a:ext cx="3256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70C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applicationContext.xml</a:t>
            </a:r>
            <a:endParaRPr lang="en-US" altLang="zh-CN">
              <a:solidFill>
                <a:srgbClr val="0070C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31410" y="4861560"/>
            <a:ext cx="3148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/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配置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MyBatis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的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‘SqlSessionFactoryBean’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和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Mapper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扫描。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2352675" y="3023870"/>
            <a:ext cx="0" cy="2667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2352675" y="4073525"/>
            <a:ext cx="0" cy="2667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8543925" y="1019810"/>
            <a:ext cx="3286125" cy="1531620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543925" y="1517015"/>
            <a:ext cx="2650490" cy="97599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fontAlgn="auto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接收请求，返回页面</a:t>
            </a:r>
            <a:endParaRPr lang="zh-CN" altLang="en-US" sz="160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  <a:p>
            <a:pPr marL="285750" indent="-285750" fontAlgn="auto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处理业务逻辑</a:t>
            </a:r>
            <a:endParaRPr lang="zh-CN" altLang="en-US" sz="160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  <a:p>
            <a:pPr marL="285750" indent="-285750" fontAlgn="auto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执行，访问数据库</a:t>
            </a:r>
            <a:endParaRPr lang="zh-CN" altLang="en-US" sz="160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94725" y="1072515"/>
            <a:ext cx="1327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70C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三层职责：</a:t>
            </a:r>
            <a:endParaRPr lang="zh-CN" altLang="en-US">
              <a:solidFill>
                <a:srgbClr val="0070C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8654415" y="1504950"/>
            <a:ext cx="1075690" cy="0"/>
          </a:xfrm>
          <a:prstGeom prst="line">
            <a:avLst/>
          </a:prstGeom>
          <a:ln w="57150" cmpd="thickThin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圆角矩形 44"/>
          <p:cNvSpPr/>
          <p:nvPr/>
        </p:nvSpPr>
        <p:spPr>
          <a:xfrm>
            <a:off x="8409940" y="3080385"/>
            <a:ext cx="3420110" cy="3108325"/>
          </a:xfrm>
          <a:prstGeom prst="roundRect">
            <a:avLst>
              <a:gd name="adj" fmla="val 10224"/>
            </a:avLst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8524875" y="2637790"/>
            <a:ext cx="18611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整体框架</a:t>
            </a:r>
            <a:endParaRPr lang="zh-CN" altLang="en-US" sz="2000">
              <a:solidFill>
                <a:schemeClr val="tx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524875" y="3122930"/>
            <a:ext cx="3204210" cy="3041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064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浏览器访问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JSP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后，请求先进入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web.xml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配置的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DispatcherServlet，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再由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Spring MVC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匹配对应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Controller。</a:t>
            </a:r>
            <a:endParaRPr lang="en-US" altLang="zh-CN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064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调用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Service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处理业务逻辑，如注册、挂号、收费等；数据库操作由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Mapper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接口和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Mapper XML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绑定后，通过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MyBatis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执行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SQL。</a:t>
            </a:r>
            <a:endParaRPr lang="en-US" altLang="zh-CN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圆角矩形 27"/>
          <p:cNvSpPr/>
          <p:nvPr/>
        </p:nvSpPr>
        <p:spPr>
          <a:xfrm>
            <a:off x="133350" y="1647190"/>
            <a:ext cx="11782425" cy="4948555"/>
          </a:xfrm>
          <a:prstGeom prst="roundRect">
            <a:avLst>
              <a:gd name="adj" fmla="val 5697"/>
            </a:avLst>
          </a:prstGeom>
          <a:noFill/>
          <a:ln w="31750">
            <a:solidFill>
              <a:srgbClr val="035C9C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数据库连接与 </a:t>
              </a:r>
              <a:r>
                <a:rPr lang="en-US" altLang="zh-CN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MyBatis 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映射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05810" y="899160"/>
            <a:ext cx="5809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持久层设计：用 </a:t>
            </a:r>
            <a:r>
              <a:rPr lang="en-US" altLang="zh-CN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MyBatis </a:t>
            </a:r>
            <a:r>
              <a:rPr lang="zh-CN" altLang="en-US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 </a:t>
            </a:r>
            <a:r>
              <a:rPr lang="en-US" altLang="zh-CN" sz="24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</a:t>
            </a:r>
            <a:endParaRPr lang="en-US" altLang="zh-CN" sz="24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59080" y="1346200"/>
            <a:ext cx="3486150" cy="1490345"/>
          </a:xfrm>
          <a:prstGeom prst="roundRect">
            <a:avLst>
              <a:gd name="adj" fmla="val 17559"/>
            </a:avLst>
          </a:prstGeom>
          <a:solidFill>
            <a:srgbClr val="035C9C"/>
          </a:solidFill>
          <a:ln w="254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06400" y="1369060"/>
            <a:ext cx="319087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数据库：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hospital_sys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连接配置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：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jdbc.properties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数据源：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Druid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映射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：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mapper/*.xml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2"/>
            </p:custDataLst>
          </p:nvPr>
        </p:nvGrpSpPr>
        <p:grpSpPr>
          <a:xfrm>
            <a:off x="344805" y="3526790"/>
            <a:ext cx="3252470" cy="2216150"/>
            <a:chOff x="557" y="4822"/>
            <a:chExt cx="5122" cy="3490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" y="4822"/>
              <a:ext cx="5108" cy="28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9" name="矩形 28"/>
            <p:cNvSpPr/>
            <p:nvPr>
              <p:custDataLst>
                <p:tags r:id="rId4"/>
              </p:custDataLst>
            </p:nvPr>
          </p:nvSpPr>
          <p:spPr>
            <a:xfrm>
              <a:off x="557" y="7628"/>
              <a:ext cx="5123" cy="684"/>
            </a:xfrm>
            <a:prstGeom prst="rect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>
              <p:custDataLst>
                <p:tags r:id="rId5"/>
              </p:custDataLst>
            </p:nvPr>
          </p:nvSpPr>
          <p:spPr>
            <a:xfrm>
              <a:off x="662" y="7702"/>
              <a:ext cx="4832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数据库驱动、</a:t>
              </a:r>
              <a:r>
                <a:rPr lang="en-US" altLang="zh-CN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URL、</a:t>
              </a:r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用户名、密码</a:t>
              </a:r>
              <a:endPara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6"/>
            </p:custDataLst>
          </p:nvPr>
        </p:nvGrpSpPr>
        <p:grpSpPr>
          <a:xfrm>
            <a:off x="4335145" y="3340735"/>
            <a:ext cx="3253105" cy="2940685"/>
            <a:chOff x="7123" y="4588"/>
            <a:chExt cx="5123" cy="4631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23" y="4588"/>
              <a:ext cx="5122" cy="415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8" name="矩形 37"/>
            <p:cNvSpPr/>
            <p:nvPr>
              <p:custDataLst>
                <p:tags r:id="rId8"/>
              </p:custDataLst>
            </p:nvPr>
          </p:nvSpPr>
          <p:spPr>
            <a:xfrm>
              <a:off x="7123" y="8535"/>
              <a:ext cx="5123" cy="684"/>
            </a:xfrm>
            <a:prstGeom prst="rect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>
              <p:custDataLst>
                <p:tags r:id="rId9"/>
              </p:custDataLst>
            </p:nvPr>
          </p:nvSpPr>
          <p:spPr>
            <a:xfrm>
              <a:off x="7414" y="8637"/>
              <a:ext cx="4832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创建 </a:t>
              </a:r>
              <a:r>
                <a:rPr lang="en-US" altLang="zh-CN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Druid </a:t>
              </a:r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数据源，注入对象</a:t>
              </a:r>
              <a:endPara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0"/>
            </p:custDataLst>
          </p:nvPr>
        </p:nvGrpSpPr>
        <p:grpSpPr>
          <a:xfrm>
            <a:off x="8286750" y="3713480"/>
            <a:ext cx="3247390" cy="1953895"/>
            <a:chOff x="13105" y="5587"/>
            <a:chExt cx="5114" cy="3077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105" y="5587"/>
              <a:ext cx="5113" cy="239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矩形 41"/>
            <p:cNvSpPr/>
            <p:nvPr>
              <p:custDataLst>
                <p:tags r:id="rId12"/>
              </p:custDataLst>
            </p:nvPr>
          </p:nvSpPr>
          <p:spPr>
            <a:xfrm>
              <a:off x="13111" y="7980"/>
              <a:ext cx="5108" cy="684"/>
            </a:xfrm>
            <a:prstGeom prst="rect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>
              <p:custDataLst>
                <p:tags r:id="rId13"/>
              </p:custDataLst>
            </p:nvPr>
          </p:nvSpPr>
          <p:spPr>
            <a:xfrm>
              <a:off x="13387" y="8101"/>
              <a:ext cx="4832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患者列表和关键字查询功能</a:t>
              </a:r>
              <a:r>
                <a:rPr lang="zh-CN" altLang="en-US" sz="15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实现</a:t>
              </a:r>
              <a:endPara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sp>
        <p:nvSpPr>
          <p:cNvPr id="45" name="右箭头 44"/>
          <p:cNvSpPr/>
          <p:nvPr/>
        </p:nvSpPr>
        <p:spPr>
          <a:xfrm>
            <a:off x="3695065" y="4508500"/>
            <a:ext cx="533400" cy="304800"/>
          </a:xfrm>
          <a:prstGeom prst="rightArrow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右箭头 45"/>
          <p:cNvSpPr/>
          <p:nvPr/>
        </p:nvSpPr>
        <p:spPr>
          <a:xfrm>
            <a:off x="7694295" y="4508500"/>
            <a:ext cx="533400" cy="304800"/>
          </a:xfrm>
          <a:prstGeom prst="rightArrow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44805" y="3111500"/>
            <a:ext cx="2828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</a:rPr>
              <a:t>jdbc.properties</a:t>
            </a:r>
            <a:endParaRPr lang="en-US" altLang="zh-CN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35145" y="2907665"/>
            <a:ext cx="304165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800">
                <a:latin typeface="思源黑体 CN Bold" panose="020B0800000000000000" charset="-122"/>
                <a:ea typeface="思源黑体 CN Bold" panose="020B0800000000000000" charset="-122"/>
              </a:rPr>
              <a:t>applicationContext.xml</a:t>
            </a:r>
            <a:endParaRPr lang="en-US" altLang="zh-CN" sz="18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263890" y="3268345"/>
            <a:ext cx="304165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800">
                <a:latin typeface="思源黑体 CN Bold" panose="020B0800000000000000" charset="-122"/>
                <a:ea typeface="思源黑体 CN Bold" panose="020B0800000000000000" charset="-122"/>
              </a:rPr>
              <a:t>PatientMapper.xml</a:t>
            </a:r>
            <a:endParaRPr lang="en-US" altLang="zh-CN" sz="18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010025" y="1783715"/>
            <a:ext cx="748919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30000"/>
              </a:lnSpc>
            </a:pPr>
            <a:r>
              <a: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配置文件提供连接参数，</a:t>
            </a:r>
            <a:r>
              <a:rPr lang="en-US" altLang="zh-CN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Spring </a:t>
            </a:r>
            <a:r>
              <a: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创建数据库连接池，</a:t>
            </a:r>
            <a:r>
              <a:rPr lang="en-US" altLang="zh-CN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MyBatis XML </a:t>
            </a:r>
            <a:r>
              <a: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根据页面条件生成 </a:t>
            </a:r>
            <a:r>
              <a:rPr lang="en-US" altLang="zh-CN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SQL，</a:t>
            </a:r>
            <a:r>
              <a: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最终查询 </a:t>
            </a:r>
            <a:r>
              <a:rPr lang="en-US" altLang="zh-CN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MySQL </a:t>
            </a:r>
            <a:r>
              <a: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数据库。</a:t>
            </a:r>
            <a:endParaRPr lang="zh-CN" altLang="en-US">
              <a:solidFill>
                <a:srgbClr val="035C9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263890" y="5738495"/>
            <a:ext cx="1990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思源黑体 CN Bold" panose="020B0800000000000000" charset="-122"/>
                <a:ea typeface="思源黑体 CN Bold" panose="020B0800000000000000" charset="-122"/>
              </a:rPr>
              <a:t>（以患者查询为例）</a:t>
            </a:r>
            <a:endParaRPr lang="zh-CN" altLang="en-US" sz="14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用户注册与登录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73050" y="5507355"/>
            <a:ext cx="8808085" cy="1142365"/>
            <a:chOff x="304" y="1515"/>
            <a:chExt cx="14112" cy="1799"/>
          </a:xfrm>
        </p:grpSpPr>
        <p:sp>
          <p:nvSpPr>
            <p:cNvPr id="5" name="圆角矩形 4"/>
            <p:cNvSpPr/>
            <p:nvPr/>
          </p:nvSpPr>
          <p:spPr>
            <a:xfrm>
              <a:off x="304" y="1515"/>
              <a:ext cx="13692" cy="1799"/>
            </a:xfrm>
            <a:prstGeom prst="roundRect">
              <a:avLst>
                <a:gd name="adj" fmla="val 23182"/>
              </a:avLst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09" y="1713"/>
              <a:ext cx="137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035C9C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注册流程：</a:t>
              </a:r>
              <a:r>
                <a:rPr lang="zh-CN" altLang="en-US">
                  <a:solidFill>
                    <a:schemeClr val="tx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读取表单 -&gt; 非空校验 -&gt; 密码一致校验 -&gt; 账号重复校验 -&gt; 注册患者</a:t>
              </a:r>
              <a:endParaRPr lang="zh-CN" altLang="en-US">
                <a:solidFill>
                  <a:schemeClr val="tx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29" y="2493"/>
              <a:ext cx="137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rgbClr val="035C9C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登录流程：</a:t>
              </a: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读取账号密码 -&gt; 查询用户 -&gt; 保存 Session -&gt; 跳转主页</a:t>
              </a:r>
              <a:endParaRPr lang="zh-CN" altLang="en-US">
                <a:solidFill>
                  <a:srgbClr val="035C9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015105" y="1713865"/>
            <a:ext cx="19475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接收注册</a:t>
            </a:r>
            <a:r>
              <a:rPr lang="en-US" altLang="zh-CN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POST</a:t>
            </a:r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请求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36550" y="1637665"/>
            <a:ext cx="3678555" cy="1772285"/>
            <a:chOff x="430" y="1515"/>
            <a:chExt cx="7052" cy="33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" y="1515"/>
              <a:ext cx="7052" cy="3398"/>
            </a:xfrm>
            <a:prstGeom prst="rect">
              <a:avLst/>
            </a:prstGeom>
          </p:spPr>
        </p:pic>
        <p:sp>
          <p:nvSpPr>
            <p:cNvPr id="15" name="圆角矩形 14"/>
            <p:cNvSpPr/>
            <p:nvPr/>
          </p:nvSpPr>
          <p:spPr>
            <a:xfrm>
              <a:off x="1632" y="1622"/>
              <a:ext cx="5662" cy="519"/>
            </a:xfrm>
            <a:prstGeom prst="roundRect">
              <a:avLst/>
            </a:prstGeom>
            <a:noFill/>
            <a:ln w="222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1632" y="2467"/>
              <a:ext cx="5662" cy="2325"/>
            </a:xfrm>
            <a:prstGeom prst="roundRect">
              <a:avLst/>
            </a:prstGeom>
            <a:noFill/>
            <a:ln w="222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4015105" y="2393315"/>
            <a:ext cx="1949450" cy="9391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从页面表单中读取用户名、密码、确认密码和真实姓名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2276475" y="3517265"/>
            <a:ext cx="8890" cy="290195"/>
          </a:xfrm>
          <a:prstGeom prst="straightConnector1">
            <a:avLst/>
          </a:prstGeom>
          <a:ln w="28575" cap="rnd" cmpd="sng">
            <a:solidFill>
              <a:schemeClr val="accent1">
                <a:shade val="50000"/>
              </a:schemeClr>
            </a:solidFill>
            <a:prstDash val="solid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273050" y="3855720"/>
            <a:ext cx="3742055" cy="1490345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79095" y="3937635"/>
            <a:ext cx="36353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25781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127" checksum="914695395"/>
                </a:ext>
              </a:extLst>
            </a:pP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非空校验：返回</a:t>
            </a:r>
            <a:r>
              <a:rPr lang="zh-CN" alt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注册页面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；调用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userService.findByUsername()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判断账号</a:t>
            </a:r>
            <a:r>
              <a:rPr lang="zh-CN" alt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是否已经存在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。校验通过创建对象，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调用注册方法，进入登录页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面</a:t>
            </a:r>
            <a:endParaRPr lang="zh-CN" altLang="en-US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545" y="1693545"/>
            <a:ext cx="3840480" cy="35947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37" name="组合 36"/>
          <p:cNvGrpSpPr/>
          <p:nvPr/>
        </p:nvGrpSpPr>
        <p:grpSpPr>
          <a:xfrm>
            <a:off x="1724660" y="901700"/>
            <a:ext cx="2645410" cy="579120"/>
            <a:chOff x="2716" y="1420"/>
            <a:chExt cx="4166" cy="912"/>
          </a:xfrm>
        </p:grpSpPr>
        <p:sp>
          <p:nvSpPr>
            <p:cNvPr id="31" name="圆角矩形 30"/>
            <p:cNvSpPr/>
            <p:nvPr/>
          </p:nvSpPr>
          <p:spPr>
            <a:xfrm>
              <a:off x="2716" y="1420"/>
              <a:ext cx="4166" cy="913"/>
            </a:xfrm>
            <a:prstGeom prst="roundRect">
              <a:avLst/>
            </a:prstGeom>
            <a:solidFill>
              <a:srgbClr val="0C234C"/>
            </a:solidFill>
            <a:ln>
              <a:solidFill>
                <a:srgbClr val="0C234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080" y="1485"/>
              <a:ext cx="341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注册功能实现</a:t>
              </a:r>
              <a:endParaRPr lang="zh-CN" altLang="en-US" sz="2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211820" y="952500"/>
            <a:ext cx="2645410" cy="579755"/>
            <a:chOff x="2716" y="1420"/>
            <a:chExt cx="4166" cy="913"/>
          </a:xfrm>
        </p:grpSpPr>
        <p:sp>
          <p:nvSpPr>
            <p:cNvPr id="39" name="圆角矩形 38"/>
            <p:cNvSpPr/>
            <p:nvPr/>
          </p:nvSpPr>
          <p:spPr>
            <a:xfrm>
              <a:off x="2716" y="1420"/>
              <a:ext cx="4166" cy="913"/>
            </a:xfrm>
            <a:prstGeom prst="roundRect">
              <a:avLst/>
            </a:prstGeom>
            <a:solidFill>
              <a:srgbClr val="0C234C"/>
            </a:solidFill>
            <a:ln>
              <a:solidFill>
                <a:srgbClr val="0C234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260" y="1485"/>
              <a:ext cx="341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登录功能实现</a:t>
              </a:r>
              <a:endParaRPr lang="zh-CN" altLang="en-US" sz="2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41" name="圆角矩形 40"/>
          <p:cNvSpPr/>
          <p:nvPr/>
        </p:nvSpPr>
        <p:spPr>
          <a:xfrm>
            <a:off x="7039610" y="1989455"/>
            <a:ext cx="3108325" cy="921385"/>
          </a:xfrm>
          <a:prstGeom prst="roundRect">
            <a:avLst/>
          </a:prstGeom>
          <a:noFill/>
          <a:ln w="22225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0349230" y="2168525"/>
            <a:ext cx="2132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读取账号和密码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6068695" y="923290"/>
            <a:ext cx="0" cy="4331970"/>
          </a:xfrm>
          <a:prstGeom prst="line">
            <a:avLst/>
          </a:prstGeom>
          <a:ln w="41275" cmpd="thickThin">
            <a:solidFill>
              <a:srgbClr val="0C234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040245" y="2991485"/>
            <a:ext cx="3114675" cy="921385"/>
          </a:xfrm>
          <a:prstGeom prst="roundRect">
            <a:avLst/>
          </a:prstGeom>
          <a:noFill/>
          <a:ln w="22225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0349230" y="3220085"/>
            <a:ext cx="2132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判断是否为空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358755" y="3855720"/>
            <a:ext cx="21329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确认默认账号存在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6988175" y="4145280"/>
            <a:ext cx="3181985" cy="1105535"/>
          </a:xfrm>
          <a:prstGeom prst="roundRect">
            <a:avLst/>
          </a:prstGeom>
          <a:noFill/>
          <a:ln w="22225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0368280" y="4208145"/>
            <a:ext cx="1710055" cy="1222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15000"/>
              </a:lnSpc>
            </a:pPr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保存对象到</a:t>
            </a:r>
            <a:r>
              <a:rPr lang="en-US" altLang="zh-CN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loginUser</a:t>
            </a:r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，跳转页面到系统主页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8963660" y="5483225"/>
            <a:ext cx="2955925" cy="112395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070340" y="5556885"/>
            <a:ext cx="2736215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064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loginUser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是后面权限拦截和业务识别当前用户身份的基础。</a:t>
            </a:r>
            <a:endParaRPr lang="zh-CN" altLang="en-US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角色初始化与角色权限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控制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273050" y="1310640"/>
            <a:ext cx="4485640" cy="2030730"/>
            <a:chOff x="430" y="2064"/>
            <a:chExt cx="7064" cy="3198"/>
          </a:xfrm>
        </p:grpSpPr>
        <p:grpSp>
          <p:nvGrpSpPr>
            <p:cNvPr id="13" name="组合 12"/>
            <p:cNvGrpSpPr/>
            <p:nvPr/>
          </p:nvGrpSpPr>
          <p:grpSpPr>
            <a:xfrm>
              <a:off x="430" y="2064"/>
              <a:ext cx="7065" cy="3199"/>
              <a:chOff x="430" y="1606"/>
              <a:chExt cx="7065" cy="3199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0" y="1606"/>
                <a:ext cx="7065" cy="195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" name="矩形 11"/>
              <p:cNvSpPr/>
              <p:nvPr/>
            </p:nvSpPr>
            <p:spPr>
              <a:xfrm>
                <a:off x="430" y="3560"/>
                <a:ext cx="7063" cy="1245"/>
              </a:xfrm>
              <a:prstGeom prst="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610" y="4078"/>
              <a:ext cx="6746" cy="11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457200" fontAlgn="auto">
                <a:lnSpc>
                  <a:spcPct val="115000"/>
                </a:lnSpc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注册患者时设置角色为 </a:t>
              </a:r>
              <a:r>
                <a:rPr lang="en-US" altLang="zh-CN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patient</a:t>
              </a: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，避免普通用户直接注册为</a:t>
              </a: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其他身份</a:t>
              </a:r>
              <a:endPara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03200" y="89884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impl/UserServiceImpl.java</a:t>
            </a:r>
            <a:endParaRPr lang="en-US" altLang="zh-CN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893310" y="2076450"/>
            <a:ext cx="1299845" cy="591185"/>
          </a:xfrm>
          <a:prstGeom prst="rightArrow">
            <a:avLst>
              <a:gd name="adj1" fmla="val 50000"/>
              <a:gd name="adj2" fmla="val 102363"/>
            </a:avLst>
          </a:prstGeom>
          <a:noFill/>
          <a:ln w="38100">
            <a:solidFill>
              <a:srgbClr val="0C23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6328410" y="1190625"/>
            <a:ext cx="5485130" cy="1462405"/>
          </a:xfrm>
          <a:prstGeom prst="roundRect">
            <a:avLst/>
          </a:prstGeom>
          <a:noFill/>
          <a:ln w="50800" cmpd="thickThin">
            <a:solidFill>
              <a:srgbClr val="0C234C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34455" y="1303020"/>
            <a:ext cx="4740275" cy="415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权限控制：不同角色只能访问对应页面</a:t>
            </a:r>
            <a:endParaRPr lang="zh-CN" altLang="en-US" sz="20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44615" y="1727835"/>
            <a:ext cx="5276215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06400" fontAlgn="auto">
              <a:lnSpc>
                <a:spcPct val="115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请求路径 -&gt; 是否公共路径 -&gt; 是否登录 -&gt; 判断角色 -&gt; 放行或跳转无权限页面</a:t>
            </a:r>
            <a:endParaRPr lang="zh-CN" altLang="en-US" sz="16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528435" y="2411095"/>
            <a:ext cx="5091430" cy="957580"/>
            <a:chOff x="10281" y="3591"/>
            <a:chExt cx="8018" cy="1508"/>
          </a:xfrm>
        </p:grpSpPr>
        <p:grpSp>
          <p:nvGrpSpPr>
            <p:cNvPr id="29" name="组合 28"/>
            <p:cNvGrpSpPr/>
            <p:nvPr/>
          </p:nvGrpSpPr>
          <p:grpSpPr>
            <a:xfrm>
              <a:off x="10281" y="3591"/>
              <a:ext cx="4004" cy="1490"/>
              <a:chOff x="10281" y="3591"/>
              <a:chExt cx="4004" cy="1490"/>
            </a:xfrm>
          </p:grpSpPr>
          <p:sp>
            <p:nvSpPr>
              <p:cNvPr id="23" name="圆角矩形 22"/>
              <p:cNvSpPr/>
              <p:nvPr/>
            </p:nvSpPr>
            <p:spPr>
              <a:xfrm>
                <a:off x="10281" y="3591"/>
                <a:ext cx="4005" cy="1490"/>
              </a:xfrm>
              <a:prstGeom prst="round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0363" y="3645"/>
                <a:ext cx="3923" cy="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思源黑体 CN Bold" panose="020B0800000000000000" charset="-122"/>
                  </a:rPr>
                  <a:t>管理员：基础数据管理</a:t>
                </a:r>
                <a:endPara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endParaRPr>
              </a:p>
              <a:p>
                <a:pPr indent="0" algn="l" fontAlgn="auto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思源黑体 CN Bold" panose="020B0800000000000000" charset="-122"/>
                  </a:rPr>
                  <a:t>患者：挂号、病历、缴费</a:t>
                </a:r>
                <a:endPara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endParaRPr>
              </a:p>
            </p:txBody>
          </p:sp>
        </p:grpSp>
        <p:sp>
          <p:nvSpPr>
            <p:cNvPr id="24" name="圆角矩形 23"/>
            <p:cNvSpPr/>
            <p:nvPr/>
          </p:nvSpPr>
          <p:spPr>
            <a:xfrm>
              <a:off x="14591" y="3591"/>
              <a:ext cx="3708" cy="1509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4754" y="3645"/>
              <a:ext cx="3387" cy="130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医生：挂号表、病历</a:t>
              </a:r>
              <a:endPara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  <a:p>
              <a:pPr algn="l">
                <a:lnSpc>
                  <a:spcPct val="150000"/>
                </a:lnSpc>
                <a:buClrTx/>
                <a:buSzTx/>
                <a:buNone/>
              </a:pP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药剂师：处方发药</a:t>
              </a:r>
              <a:endPara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4162425"/>
            <a:ext cx="3248025" cy="13119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8" name="文本框 37"/>
          <p:cNvSpPr txBox="1"/>
          <p:nvPr/>
        </p:nvSpPr>
        <p:spPr>
          <a:xfrm>
            <a:off x="182880" y="5549900"/>
            <a:ext cx="339217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3556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en-US" altLang="zh-CN" sz="14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preHandle()</a:t>
            </a:r>
            <a:r>
              <a:rPr lang="zh-CN" altLang="en-US" sz="14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方法会在请求进入之前执行。先获取当前请求路径，之后调用 </a:t>
            </a:r>
            <a:r>
              <a:rPr lang="en-US" altLang="zh-CN" sz="14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isPublicPath(path)，</a:t>
            </a:r>
            <a:r>
              <a:rPr lang="zh-CN" altLang="en-US" sz="14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判断放行。</a:t>
            </a:r>
            <a:endParaRPr lang="zh-CN" altLang="en-US" sz="14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3665220" y="4746625"/>
            <a:ext cx="960120" cy="367665"/>
          </a:xfrm>
          <a:prstGeom prst="rightArrow">
            <a:avLst>
              <a:gd name="adj1" fmla="val 50000"/>
              <a:gd name="adj2" fmla="val 54027"/>
            </a:avLst>
          </a:prstGeom>
          <a:noFill/>
          <a:ln w="38100">
            <a:solidFill>
              <a:srgbClr val="0C23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3642995" y="5151120"/>
            <a:ext cx="937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不是公共路径</a:t>
            </a:r>
            <a:endParaRPr lang="zh-CN" altLang="en-US" sz="16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758690" y="4049395"/>
            <a:ext cx="3191510" cy="1732280"/>
          </a:xfrm>
          <a:prstGeom prst="roundRect">
            <a:avLst/>
          </a:prstGeom>
          <a:solidFill>
            <a:srgbClr val="0C234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355590" y="4105275"/>
            <a:ext cx="199580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Sesion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是否为空</a:t>
            </a:r>
            <a:endParaRPr lang="zh-CN" altLang="en-US" sz="15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055" y="4505325"/>
            <a:ext cx="3191510" cy="6089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4" name="文本框 43"/>
          <p:cNvSpPr txBox="1"/>
          <p:nvPr/>
        </p:nvSpPr>
        <p:spPr>
          <a:xfrm>
            <a:off x="4822190" y="5109845"/>
            <a:ext cx="3049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3810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进行登录校验，判断是否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继续进入 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</a:t>
            </a:r>
            <a:endParaRPr lang="en-US" altLang="zh-CN" sz="15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5" name="右箭头 44"/>
          <p:cNvSpPr/>
          <p:nvPr/>
        </p:nvSpPr>
        <p:spPr>
          <a:xfrm>
            <a:off x="8113395" y="4746625"/>
            <a:ext cx="605790" cy="367665"/>
          </a:xfrm>
          <a:prstGeom prst="rightArrow">
            <a:avLst>
              <a:gd name="adj1" fmla="val 50000"/>
              <a:gd name="adj2" fmla="val 54027"/>
            </a:avLst>
          </a:prstGeom>
          <a:noFill/>
          <a:ln w="38100">
            <a:solidFill>
              <a:srgbClr val="0C23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8848725" y="4002405"/>
            <a:ext cx="2933700" cy="1758950"/>
          </a:xfrm>
          <a:prstGeom prst="roundRect">
            <a:avLst/>
          </a:prstGeom>
          <a:solidFill>
            <a:srgbClr val="0C234C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930640" y="4057650"/>
            <a:ext cx="2802255" cy="1649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381000" fontAlgn="auto">
              <a:lnSpc>
                <a:spcPct val="135000"/>
              </a:lnSpc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取出登录用户，判断管理员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医生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患者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药剂师</a:t>
            </a:r>
            <a:r>
              <a:rPr lang="zh-CN" altLang="en-US" sz="1500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路径并放行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</a:t>
            </a:r>
            <a:endParaRPr lang="zh-CN" altLang="en-US" sz="15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381000" fontAlgn="auto">
              <a:lnSpc>
                <a:spcPct val="135000"/>
              </a:lnSpc>
              <a:extLst>
                <a:ext uri="{35155182-B16C-46BC-9424-99874614C6A1}">
                  <wpsdc:indentchars xmlns:wpsdc="http://www.wps.cn/officeDocument/2017/drawingmlCustomData" val="200" checksum="2033819950"/>
                </a:ext>
              </a:extLst>
            </a:pP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之后</a:t>
            </a:r>
            <a:r>
              <a:rPr lang="zh-CN" altLang="en-US" sz="1500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定义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公共路径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管理员路径</a:t>
            </a:r>
            <a:r>
              <a:rPr lang="en-US" altLang="zh-CN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医生路径等</a:t>
            </a:r>
            <a:r>
              <a:rPr lang="zh-CN" altLang="en-US" sz="1500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角色路径</a:t>
            </a:r>
            <a:r>
              <a:rPr lang="zh-CN" altLang="en-US" sz="15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</a:t>
            </a:r>
            <a:endParaRPr lang="zh-CN" altLang="en-US" sz="15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665220" y="5948045"/>
            <a:ext cx="7362190" cy="775335"/>
          </a:xfrm>
          <a:prstGeom prst="roundRect">
            <a:avLst>
              <a:gd name="adj" fmla="val 16666"/>
            </a:avLst>
          </a:prstGeom>
          <a:noFill/>
          <a:ln w="44450">
            <a:solidFill>
              <a:srgbClr val="153770"/>
            </a:solidFill>
            <a:prstDash val="lgDashDot"/>
          </a:ln>
          <a:effectLst>
            <a:outerShdw blurRad="50800" dist="38100" dir="8100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3665220" y="6005830"/>
            <a:ext cx="7014845" cy="852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1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把权限规则集中在拦截器里统一处理，避免每个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都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重复写角色判断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50" name="曲线连接符 49"/>
          <p:cNvCxnSpPr/>
          <p:nvPr/>
        </p:nvCxnSpPr>
        <p:spPr>
          <a:xfrm rot="10800000" flipV="1">
            <a:off x="3575050" y="2633345"/>
            <a:ext cx="2839085" cy="1628140"/>
          </a:xfrm>
          <a:prstGeom prst="curvedConnector3">
            <a:avLst>
              <a:gd name="adj1" fmla="val 49989"/>
            </a:avLst>
          </a:prstGeom>
          <a:ln w="2857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基础信息维护（以科室管理为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例）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03200" y="101949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controller/DepartmentController.java</a:t>
            </a:r>
            <a:endParaRPr lang="zh-CN" altLang="en-US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200" y="1590675"/>
            <a:ext cx="3905250" cy="3183255"/>
            <a:chOff x="320" y="2186"/>
            <a:chExt cx="6150" cy="501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" y="2186"/>
              <a:ext cx="6150" cy="3789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矩形 5"/>
            <p:cNvSpPr/>
            <p:nvPr/>
          </p:nvSpPr>
          <p:spPr>
            <a:xfrm>
              <a:off x="320" y="5933"/>
              <a:ext cx="6149" cy="1266"/>
            </a:xfrm>
            <a:prstGeom prst="rect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09245" y="3996690"/>
            <a:ext cx="368300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25781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127" checksum="914695395"/>
                </a:ext>
              </a:extLst>
            </a:pP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GET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请求进入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list()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方法，读取并判断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action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参数，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进行新增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编辑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/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删除</a:t>
            </a:r>
            <a:endParaRPr lang="zh-CN" altLang="en-US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25781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127" checksum="914695395"/>
                </a:ext>
              </a:extLst>
            </a:pPr>
            <a:endParaRPr lang="zh-CN" altLang="en-US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283200" y="1303020"/>
            <a:ext cx="3903980" cy="3571240"/>
            <a:chOff x="8179" y="1938"/>
            <a:chExt cx="6148" cy="5624"/>
          </a:xfrm>
        </p:grpSpPr>
        <p:grpSp>
          <p:nvGrpSpPr>
            <p:cNvPr id="12" name="组合 11"/>
            <p:cNvGrpSpPr/>
            <p:nvPr/>
          </p:nvGrpSpPr>
          <p:grpSpPr>
            <a:xfrm>
              <a:off x="8179" y="1938"/>
              <a:ext cx="6148" cy="5624"/>
              <a:chOff x="9445" y="1938"/>
              <a:chExt cx="6148" cy="5624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5" y="1938"/>
                <a:ext cx="6148" cy="4358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矩形 10"/>
              <p:cNvSpPr/>
              <p:nvPr/>
            </p:nvSpPr>
            <p:spPr>
              <a:xfrm>
                <a:off x="9445" y="6296"/>
                <a:ext cx="6149" cy="1266"/>
              </a:xfrm>
              <a:prstGeom prst="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8320" y="6378"/>
              <a:ext cx="5800" cy="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257810" fontAlgn="auto">
                <a:lnSpc>
                  <a:spcPct val="120000"/>
                </a:lnSpc>
                <a:extLst>
                  <a:ext uri="{35155182-B16C-46BC-9424-99874614C6A1}">
                    <wpsdc:indentchars xmlns:wpsdc="http://www.wps.cn/officeDocument/2017/drawingmlCustomData" val="127" checksum="914695395"/>
                  </a:ext>
                </a:extLst>
              </a:pP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读取科室名称和描述，进行非空验证，封装对象，判断</a:t>
              </a:r>
              <a:r>
                <a:rPr lang="en-US" altLang="zh-CN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action</a:t>
              </a: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参数。</a:t>
              </a:r>
              <a:endPara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 flipV="1">
            <a:off x="4217035" y="2907665"/>
            <a:ext cx="608330" cy="6985"/>
          </a:xfrm>
          <a:prstGeom prst="straightConnector1">
            <a:avLst/>
          </a:prstGeom>
          <a:ln w="5397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270510" y="5211445"/>
            <a:ext cx="9110345" cy="1332865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13080" y="5288915"/>
            <a:ext cx="8383270" cy="12128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35000"/>
              </a:lnSpc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其他功能的实现与科室管理类似，都是进行通用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CRUD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操作。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0" fontAlgn="auto">
              <a:lnSpc>
                <a:spcPct val="135000"/>
              </a:lnSpc>
            </a:pP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通用 </a:t>
            </a: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CRUD </a:t>
            </a: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模式：</a:t>
            </a:r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0" fontAlgn="auto">
              <a:lnSpc>
                <a:spcPct val="135000"/>
              </a:lnSpc>
            </a:pP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 </a:t>
            </a: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根据 </a:t>
            </a: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action </a:t>
            </a: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分发操作，</a:t>
            </a: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Service </a:t>
            </a: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承接业务，</a:t>
            </a: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Mapper XML </a:t>
            </a:r>
            <a:r>
              <a:rPr lang="zh-CN" altLang="en-US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执行 </a:t>
            </a:r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SQL。</a:t>
            </a:r>
            <a:endParaRPr lang="en-US" altLang="zh-CN">
              <a:solidFill>
                <a:schemeClr val="accent1">
                  <a:lumMod val="40000"/>
                  <a:lumOff val="6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476740" y="1020445"/>
            <a:ext cx="2374900" cy="3938270"/>
          </a:xfrm>
          <a:prstGeom prst="roundRect">
            <a:avLst/>
          </a:prstGeom>
          <a:noFill/>
          <a:ln w="34925" cmpd="thickThin">
            <a:solidFill>
              <a:srgbClr val="0C234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535795" y="1070610"/>
            <a:ext cx="238823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10000"/>
              </a:lnSpc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科室</a:t>
            </a:r>
            <a:r>
              <a:rPr lang="zh-CN" altLang="en-US" sz="20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管理：新增、编辑、删除、列表</a:t>
            </a: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10000"/>
              </a:lnSpc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医生</a:t>
            </a:r>
            <a:r>
              <a:rPr lang="zh-CN" altLang="en-US" sz="20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管理：维护姓名、科室、职称、电话、邮箱</a:t>
            </a: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10000"/>
              </a:lnSpc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患者</a:t>
            </a:r>
            <a:r>
              <a:rPr lang="zh-CN" altLang="en-US" sz="20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管理：维护姓名、性别、年龄、电话、地址</a:t>
            </a: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10000"/>
              </a:lnSpc>
            </a:pPr>
            <a:r>
              <a:rPr lang="zh-CN" altLang="en-US" sz="2000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药剂师</a:t>
            </a:r>
            <a:r>
              <a:rPr lang="zh-CN" altLang="en-US" sz="20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管理：维护基本信息</a:t>
            </a: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10000"/>
              </a:lnSpc>
            </a:pP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患者在线预约挂号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682750"/>
            <a:ext cx="5165725" cy="18364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圆角矩形 4"/>
          <p:cNvSpPr/>
          <p:nvPr/>
        </p:nvSpPr>
        <p:spPr>
          <a:xfrm>
            <a:off x="398780" y="918210"/>
            <a:ext cx="2016125" cy="518160"/>
          </a:xfrm>
          <a:prstGeom prst="roundRect">
            <a:avLst>
              <a:gd name="adj" fmla="val 50000"/>
            </a:avLst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8495" y="9702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页面初始化</a:t>
            </a:r>
            <a:endParaRPr lang="zh-CN" altLang="en-US" sz="20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655310" y="1063625"/>
            <a:ext cx="3025140" cy="434340"/>
            <a:chOff x="8725" y="1812"/>
            <a:chExt cx="4764" cy="684"/>
          </a:xfrm>
        </p:grpSpPr>
        <p:sp>
          <p:nvSpPr>
            <p:cNvPr id="10" name="圆角矩形 9"/>
            <p:cNvSpPr/>
            <p:nvPr/>
          </p:nvSpPr>
          <p:spPr>
            <a:xfrm>
              <a:off x="8725" y="1812"/>
              <a:ext cx="4765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786" y="1885"/>
              <a:ext cx="4625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接收打开预约页面的 </a:t>
              </a:r>
              <a:r>
                <a:rPr lang="en-US" altLang="zh-CN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GET </a:t>
              </a:r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请求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13" name="直接箭头连接符 12"/>
          <p:cNvCxnSpPr/>
          <p:nvPr/>
        </p:nvCxnSpPr>
        <p:spPr>
          <a:xfrm>
            <a:off x="7074535" y="1557655"/>
            <a:ext cx="0" cy="300355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6130290" y="1917700"/>
            <a:ext cx="1949450" cy="434340"/>
            <a:chOff x="9015" y="3020"/>
            <a:chExt cx="3070" cy="684"/>
          </a:xfrm>
        </p:grpSpPr>
        <p:sp>
          <p:nvSpPr>
            <p:cNvPr id="14" name="圆角矩形 13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9094" y="3100"/>
              <a:ext cx="2886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设置当前患者姓名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19" name="直接箭头连接符 18"/>
          <p:cNvCxnSpPr/>
          <p:nvPr/>
        </p:nvCxnSpPr>
        <p:spPr>
          <a:xfrm>
            <a:off x="7074535" y="2416175"/>
            <a:ext cx="0" cy="300355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5886450" y="2771775"/>
            <a:ext cx="2404745" cy="434340"/>
            <a:chOff x="9015" y="3020"/>
            <a:chExt cx="3071" cy="684"/>
          </a:xfrm>
        </p:grpSpPr>
        <p:sp>
          <p:nvSpPr>
            <p:cNvPr id="21" name="圆角矩形 20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094" y="3100"/>
              <a:ext cx="2886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创建</a:t>
              </a:r>
              <a:r>
                <a:rPr lang="en-US" altLang="zh-CN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Registration</a:t>
              </a:r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对象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7074535" y="3261360"/>
            <a:ext cx="0" cy="300355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5809615" y="3616960"/>
            <a:ext cx="2578735" cy="634365"/>
            <a:chOff x="9015" y="3020"/>
            <a:chExt cx="3071" cy="999"/>
          </a:xfrm>
        </p:grpSpPr>
        <p:sp>
          <p:nvSpPr>
            <p:cNvPr id="27" name="圆角矩形 26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094" y="3100"/>
              <a:ext cx="2886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读取系统配置中的挂号费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  <a:p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30" name="直接箭头连接符 29"/>
          <p:cNvCxnSpPr/>
          <p:nvPr/>
        </p:nvCxnSpPr>
        <p:spPr>
          <a:xfrm>
            <a:off x="8585835" y="3806190"/>
            <a:ext cx="300355" cy="0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9172575" y="3616960"/>
            <a:ext cx="2848610" cy="434340"/>
            <a:chOff x="9015" y="3020"/>
            <a:chExt cx="3071" cy="684"/>
          </a:xfrm>
        </p:grpSpPr>
        <p:sp>
          <p:nvSpPr>
            <p:cNvPr id="36" name="圆角矩形 35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110" y="3100"/>
              <a:ext cx="2886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把挂号对象放到 </a:t>
              </a:r>
              <a:r>
                <a:rPr lang="en-US" altLang="zh-CN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request </a:t>
              </a:r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中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38" name="直接箭头连接符 37"/>
          <p:cNvCxnSpPr/>
          <p:nvPr/>
        </p:nvCxnSpPr>
        <p:spPr>
          <a:xfrm flipH="1" flipV="1">
            <a:off x="10473055" y="3159760"/>
            <a:ext cx="3175" cy="346075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9172575" y="2182495"/>
            <a:ext cx="2848610" cy="921857"/>
            <a:chOff x="9015" y="3020"/>
            <a:chExt cx="3071" cy="806"/>
          </a:xfrm>
        </p:grpSpPr>
        <p:sp>
          <p:nvSpPr>
            <p:cNvPr id="40" name="圆角矩形 39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110" y="3100"/>
              <a:ext cx="2886" cy="7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调用</a:t>
              </a:r>
              <a:r>
                <a:rPr lang="en-US" altLang="zh-CN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setOptions(req)</a:t>
              </a:r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加载科室和医生列表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  <a:p>
              <a:pPr algn="ctr"/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H="1" flipV="1">
            <a:off x="10473055" y="1641475"/>
            <a:ext cx="3175" cy="346075"/>
          </a:xfrm>
          <a:prstGeom prst="straightConnector1">
            <a:avLst/>
          </a:prstGeom>
          <a:ln w="349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/>
        </p:nvGrpSpPr>
        <p:grpSpPr>
          <a:xfrm>
            <a:off x="9681210" y="1080770"/>
            <a:ext cx="1613021" cy="434340"/>
            <a:chOff x="9015" y="3020"/>
            <a:chExt cx="3143" cy="684"/>
          </a:xfrm>
        </p:grpSpPr>
        <p:sp>
          <p:nvSpPr>
            <p:cNvPr id="44" name="圆角矩形 43"/>
            <p:cNvSpPr/>
            <p:nvPr/>
          </p:nvSpPr>
          <p:spPr>
            <a:xfrm>
              <a:off x="9015" y="3020"/>
              <a:ext cx="3071" cy="684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272" y="3100"/>
              <a:ext cx="2886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chemeClr val="bg1"/>
                  </a:solidFill>
                  <a:highlight>
                    <a:srgbClr val="000000">
                      <a:alpha val="0"/>
                    </a:srgbClr>
                  </a:highlight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返回预约页面</a:t>
              </a:r>
              <a:endParaRPr lang="zh-CN" altLang="en-US" sz="1600">
                <a:solidFill>
                  <a:schemeClr val="bg1"/>
                </a:solidFill>
                <a:highlight>
                  <a:srgbClr val="000000">
                    <a:alpha val="0"/>
                  </a:srgbClr>
                </a:highligh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77825" y="4251325"/>
            <a:ext cx="1619250" cy="518160"/>
            <a:chOff x="628" y="6920"/>
            <a:chExt cx="3175" cy="816"/>
          </a:xfrm>
        </p:grpSpPr>
        <p:sp>
          <p:nvSpPr>
            <p:cNvPr id="46" name="圆角矩形 45"/>
            <p:cNvSpPr/>
            <p:nvPr/>
          </p:nvSpPr>
          <p:spPr>
            <a:xfrm>
              <a:off x="628" y="6920"/>
              <a:ext cx="3175" cy="816"/>
            </a:xfrm>
            <a:prstGeom prst="roundRect">
              <a:avLst>
                <a:gd name="adj" fmla="val 50000"/>
              </a:avLst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37" y="7002"/>
              <a:ext cx="237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提交</a:t>
              </a:r>
              <a:r>
                <a:rPr lang="zh-CN" altLang="en-US" sz="20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保存</a:t>
              </a:r>
              <a:endPara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273050" y="3478530"/>
            <a:ext cx="5163185" cy="513715"/>
          </a:xfrm>
          <a:prstGeom prst="rect">
            <a:avLst/>
          </a:prstGeom>
          <a:solidFill>
            <a:srgbClr val="0C234C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377825" y="3556000"/>
            <a:ext cx="5029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controller/PatientPortalController.java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25" y="4892675"/>
            <a:ext cx="4018915" cy="13716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965" y="4591050"/>
            <a:ext cx="3957955" cy="16808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6" name="文本框 55"/>
          <p:cNvSpPr txBox="1"/>
          <p:nvPr/>
        </p:nvSpPr>
        <p:spPr>
          <a:xfrm>
            <a:off x="398780" y="6387465"/>
            <a:ext cx="829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调用</a:t>
            </a:r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isDoctorInDepartment()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判断医生是否属于所选科室（挂号逻辑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同）</a:t>
            </a:r>
            <a:endParaRPr lang="zh-CN" altLang="en-US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8886190" y="4581525"/>
            <a:ext cx="2927350" cy="1808480"/>
          </a:xfrm>
          <a:prstGeom prst="roundRect">
            <a:avLst/>
          </a:prstGeom>
          <a:noFill/>
          <a:ln w="4762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9022080" y="4593590"/>
            <a:ext cx="257810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该功能对应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在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RegistrationMapper.xml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，向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registrations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表插入患者、科室、医生、费用和状态。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圆角矩形 26"/>
          <p:cNvSpPr/>
          <p:nvPr/>
        </p:nvSpPr>
        <p:spPr>
          <a:xfrm>
            <a:off x="297815" y="4424045"/>
            <a:ext cx="1686560" cy="553085"/>
          </a:xfrm>
          <a:prstGeom prst="roundRect">
            <a:avLst/>
          </a:prstGeom>
          <a:solidFill>
            <a:srgbClr val="21689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医生查看挂号与填写病历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39085" y="10198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医生接诊步骤：</a:t>
            </a:r>
            <a:endParaRPr lang="zh-CN" altLang="en-US" sz="2400">
              <a:solidFill>
                <a:schemeClr val="accent1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029200" y="942340"/>
            <a:ext cx="4284345" cy="60071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13350" y="1063625"/>
            <a:ext cx="3847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本人挂号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-&gt;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打开病历页面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-&gt;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提交病历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0025" y="162909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controller/DoctorPortalController.java</a:t>
            </a:r>
            <a:endParaRPr lang="en-US" altLang="zh-CN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29945" y="2084070"/>
            <a:ext cx="5227955" cy="2063582"/>
            <a:chOff x="269" y="3282"/>
            <a:chExt cx="9271" cy="3816"/>
          </a:xfrm>
        </p:grpSpPr>
        <p:grpSp>
          <p:nvGrpSpPr>
            <p:cNvPr id="10" name="组合 9"/>
            <p:cNvGrpSpPr/>
            <p:nvPr/>
          </p:nvGrpSpPr>
          <p:grpSpPr>
            <a:xfrm>
              <a:off x="269" y="3282"/>
              <a:ext cx="8993" cy="3795"/>
              <a:chOff x="269" y="3282"/>
              <a:chExt cx="8993" cy="3795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9" y="3282"/>
                <a:ext cx="8985" cy="273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" name="矩形 8"/>
              <p:cNvSpPr/>
              <p:nvPr/>
            </p:nvSpPr>
            <p:spPr>
              <a:xfrm>
                <a:off x="270" y="6011"/>
                <a:ext cx="8993" cy="1067"/>
              </a:xfrm>
              <a:prstGeom prst="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370" y="6014"/>
              <a:ext cx="9170" cy="1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1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医生查看本人挂号：</a:t>
              </a:r>
              <a:endParaRPr lang="zh-CN" altLang="en-US" sz="1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  <a:p>
              <a:pPr indent="355600" fontAlgn="auto">
                <a:lnSpc>
                  <a:spcPct val="115000"/>
                </a:lnSpc>
                <a:extLst>
                  <a:ext uri="{35155182-B16C-46BC-9424-99874614C6A1}">
                    <wpsdc:indentchars xmlns:wpsdc="http://www.wps.cn/officeDocument/2017/drawingmlCustomData" val="200" checksum="3837665281"/>
                  </a:ext>
                </a:extLst>
              </a:pP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接收请求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获取医生姓名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查询挂号记录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返回挂号列表</a:t>
              </a:r>
              <a:endParaRPr lang="zh-CN" altLang="en-US" sz="1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59880" y="1730375"/>
            <a:ext cx="4564380" cy="2604770"/>
            <a:chOff x="9450" y="2843"/>
            <a:chExt cx="7188" cy="4102"/>
          </a:xfrm>
        </p:grpSpPr>
        <p:grpSp>
          <p:nvGrpSpPr>
            <p:cNvPr id="18" name="组合 17"/>
            <p:cNvGrpSpPr/>
            <p:nvPr/>
          </p:nvGrpSpPr>
          <p:grpSpPr>
            <a:xfrm>
              <a:off x="9450" y="2843"/>
              <a:ext cx="7142" cy="4102"/>
              <a:chOff x="9586" y="3282"/>
              <a:chExt cx="7142" cy="4102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86" y="3282"/>
                <a:ext cx="7141" cy="276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矩形 16"/>
              <p:cNvSpPr/>
              <p:nvPr/>
            </p:nvSpPr>
            <p:spPr>
              <a:xfrm>
                <a:off x="9586" y="6045"/>
                <a:ext cx="7142" cy="1339"/>
              </a:xfrm>
              <a:prstGeom prst="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9450" y="5632"/>
              <a:ext cx="7188" cy="13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15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打开病历填写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页面：</a:t>
              </a:r>
              <a:endParaRPr lang="zh-CN" altLang="en-US" sz="1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  <a:p>
              <a:pPr indent="355600" fontAlgn="auto">
                <a:lnSpc>
                  <a:spcPct val="115000"/>
                </a:lnSpc>
                <a:extLst>
                  <a:ext uri="{35155182-B16C-46BC-9424-99874614C6A1}">
                    <wpsdc:indentchars xmlns:wpsdc="http://www.wps.cn/officeDocument/2017/drawingmlCustomData" val="200" checksum="3837665281"/>
                  </a:ext>
                </a:extLst>
              </a:pP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接收请求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获取医生姓名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信息加入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request-&gt;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加载药品列表</a:t>
              </a:r>
              <a:r>
                <a:rPr lang="en-US" altLang="zh-CN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-&gt;</a:t>
              </a:r>
              <a:r>
                <a:rPr lang="zh-CN" altLang="en-US" sz="1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  <a:sym typeface="+mn-ea"/>
                </a:rPr>
                <a:t>返回挂号列表</a:t>
              </a:r>
              <a:endParaRPr lang="zh-CN" altLang="en-US" sz="1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endParaRPr>
            </a:p>
          </p:txBody>
        </p:sp>
      </p:grpSp>
      <p:cxnSp>
        <p:nvCxnSpPr>
          <p:cNvPr id="21" name="直接箭头连接符 20"/>
          <p:cNvCxnSpPr/>
          <p:nvPr/>
        </p:nvCxnSpPr>
        <p:spPr>
          <a:xfrm>
            <a:off x="6156960" y="3050540"/>
            <a:ext cx="319405" cy="0"/>
          </a:xfrm>
          <a:prstGeom prst="straightConnector1">
            <a:avLst/>
          </a:prstGeom>
          <a:ln w="476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297815" y="4899025"/>
            <a:ext cx="11339195" cy="1764030"/>
          </a:xfrm>
          <a:prstGeom prst="roundRect">
            <a:avLst>
              <a:gd name="adj" fmla="val 0"/>
            </a:avLst>
          </a:prstGeom>
          <a:solidFill>
            <a:srgbClr val="0C234C">
              <a:alpha val="96000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8924925" y="4462145"/>
            <a:ext cx="0" cy="309880"/>
          </a:xfrm>
          <a:prstGeom prst="straightConnector1">
            <a:avLst/>
          </a:prstGeom>
          <a:ln w="476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64820" y="4469765"/>
            <a:ext cx="13862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提交病历</a:t>
            </a:r>
            <a:endParaRPr lang="zh-CN" altLang="en-US" sz="20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02920" y="4977130"/>
            <a:ext cx="1073848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创建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MedicalRecord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对象，并设置患者姓名、医生姓名、诊断内容和治疗方案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-&gt;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校验患者姓名不能为空，如果为空就返回表单页面。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2920" y="5732780"/>
            <a:ext cx="1099566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病历最终通过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recordService.insert(record)</a:t>
            </a:r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保存。也就是说，医生接诊的核心数据是</a:t>
            </a:r>
            <a:r>
              <a:rPr lang="en-US" altLang="zh-CN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MedicalRecord，</a:t>
            </a:r>
            <a:r>
              <a:rPr lang="zh-CN" altLang="en-US">
                <a:solidFill>
                  <a:schemeClr val="accent5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它记录了患者、医生、诊断和治疗方案。</a:t>
            </a:r>
            <a:endParaRPr lang="zh-CN" altLang="en-US">
              <a:solidFill>
                <a:schemeClr val="accent5">
                  <a:lumMod val="60000"/>
                  <a:lumOff val="4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就诊后自动生成收费与处方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529840" y="996315"/>
            <a:ext cx="7132320" cy="594360"/>
            <a:chOff x="4046" y="1569"/>
            <a:chExt cx="11232" cy="936"/>
          </a:xfrm>
        </p:grpSpPr>
        <p:sp>
          <p:nvSpPr>
            <p:cNvPr id="2" name="圆角矩形 1"/>
            <p:cNvSpPr/>
            <p:nvPr/>
          </p:nvSpPr>
          <p:spPr>
            <a:xfrm>
              <a:off x="4046" y="1569"/>
              <a:ext cx="11232" cy="937"/>
            </a:xfrm>
            <a:prstGeom prst="roundRect">
              <a:avLst>
                <a:gd name="adj" fmla="val 50000"/>
              </a:avLst>
            </a:prstGeom>
            <a:solidFill>
              <a:srgbClr val="0C234C"/>
            </a:solidFill>
            <a:ln w="28575">
              <a:noFill/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197" y="1675"/>
              <a:ext cx="1108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业务联动：病历、收费、处方、挂号状态同步更新</a:t>
              </a:r>
              <a:endParaRPr lang="zh-CN" altLang="en-US" sz="24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79768" y="1673225"/>
            <a:ext cx="108324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保存病历 -&gt; 生成挂号费 -&gt; 判断是否开药 -&gt; 生成处方 -&gt; 计算药费 -&gt; 生成药费 -&gt; 更新挂号状态</a:t>
            </a:r>
            <a:endParaRPr lang="zh-CN" altLang="en-US" sz="2000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95605" y="2484120"/>
            <a:ext cx="3937635" cy="803910"/>
            <a:chOff x="622" y="3598"/>
            <a:chExt cx="6201" cy="1266"/>
          </a:xfrm>
        </p:grpSpPr>
        <p:sp>
          <p:nvSpPr>
            <p:cNvPr id="10" name="圆角矩形 9"/>
            <p:cNvSpPr/>
            <p:nvPr/>
          </p:nvSpPr>
          <p:spPr>
            <a:xfrm>
              <a:off x="622" y="3598"/>
              <a:ext cx="5999" cy="1267"/>
            </a:xfrm>
            <a:prstGeom prst="round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11" y="3654"/>
              <a:ext cx="6013" cy="1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fontAlgn="auto">
                <a:lnSpc>
                  <a:spcPct val="112000"/>
                </a:lnSpc>
              </a:pPr>
              <a:r>
                <a:rPr lang="en-US" altLang="zh-CN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recordService.insert(record);</a:t>
              </a:r>
              <a:endPara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  <a:p>
              <a:pPr indent="0" fontAlgn="auto">
                <a:lnSpc>
                  <a:spcPct val="112000"/>
                </a:lnSpc>
              </a:pP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完成病历</a:t>
              </a: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保存</a:t>
              </a:r>
              <a:endPara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cxnSp>
        <p:nvCxnSpPr>
          <p:cNvPr id="11" name="直接箭头连接符 10"/>
          <p:cNvCxnSpPr/>
          <p:nvPr/>
        </p:nvCxnSpPr>
        <p:spPr>
          <a:xfrm>
            <a:off x="2150745" y="3473450"/>
            <a:ext cx="0" cy="339090"/>
          </a:xfrm>
          <a:prstGeom prst="straightConnector1">
            <a:avLst/>
          </a:prstGeom>
          <a:ln w="476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13030" y="204565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controller/DoctorPortalController.java</a:t>
            </a:r>
            <a:endParaRPr lang="en-US" altLang="zh-CN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73050" y="3974465"/>
            <a:ext cx="4109085" cy="1956435"/>
            <a:chOff x="430" y="6133"/>
            <a:chExt cx="6471" cy="30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" y="6133"/>
              <a:ext cx="6471" cy="211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431" y="8222"/>
              <a:ext cx="6470" cy="993"/>
            </a:xfrm>
            <a:prstGeom prst="rect">
              <a:avLst/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300990" y="5409565"/>
            <a:ext cx="4109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读取，判断非空，生成挂号费收费记录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819650" y="2164715"/>
            <a:ext cx="6817360" cy="3013250"/>
            <a:chOff x="8142" y="3743"/>
            <a:chExt cx="10736" cy="4745"/>
          </a:xfrm>
        </p:grpSpPr>
        <p:grpSp>
          <p:nvGrpSpPr>
            <p:cNvPr id="21" name="组合 20"/>
            <p:cNvGrpSpPr/>
            <p:nvPr/>
          </p:nvGrpSpPr>
          <p:grpSpPr>
            <a:xfrm>
              <a:off x="8142" y="3743"/>
              <a:ext cx="10736" cy="4745"/>
              <a:chOff x="10629" y="3463"/>
              <a:chExt cx="8355" cy="5323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0629" y="3463"/>
                <a:ext cx="8355" cy="5323"/>
              </a:xfrm>
              <a:prstGeom prst="rect">
                <a:avLst/>
              </a:prstGeom>
              <a:solidFill>
                <a:srgbClr val="0C234C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0775" y="3567"/>
                <a:ext cx="8122" cy="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406400" algn="l" fontAlgn="auto">
                  <a:lnSpc>
                    <a:spcPct val="125000"/>
                  </a:lnSpc>
                  <a:buClrTx/>
                  <a:buSzTx/>
                  <a:buFontTx/>
                  <a:extLst>
                    <a:ext uri="{35155182-B16C-46BC-9424-99874614C6A1}">
                      <wpsdc:indentchars xmlns:wpsdc="http://www.wps.cn/officeDocument/2017/drawingmlCustomData" val="200" checksum="1740828767"/>
                    </a:ext>
                  </a:extLst>
                </a:pPr>
                <a:r>
                  <a:rPr lang="zh-CN" altLang="en-US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判断医生是否选择药品。如果选择了药品，调用dispenseService.prescribe()生成待发放处方，计算药品费用，再次调用insertCharge()生成药品收费记录。</a:t>
                </a:r>
                <a:endPara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  <a:p>
                <a:pPr indent="406400" algn="l" fontAlgn="auto">
                  <a:lnSpc>
                    <a:spcPct val="125000"/>
                  </a:lnSpc>
                  <a:buClrTx/>
                  <a:buSzTx/>
                  <a:buFontTx/>
                  <a:extLst>
                    <a:ext uri="{35155182-B16C-46BC-9424-99874614C6A1}">
                      <wpsdc:indentchars xmlns:wpsdc="http://www.wps.cn/officeDocument/2017/drawingmlCustomData" val="200" checksum="1740828767"/>
                    </a:ext>
                  </a:extLst>
                </a:pPr>
                <a:r>
                  <a:rPr lang="zh-CN" altLang="en-US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之后判断挂号 ID 是否存在，如果挂号</a:t>
                </a:r>
                <a:r>
                  <a:rPr lang="en-US" altLang="zh-CN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ID</a:t>
                </a:r>
                <a:r>
                  <a:rPr lang="zh-CN" altLang="en-US" sz="160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存在，调用registrationService.updateStatus()把挂号状态更新为已就诊。</a:t>
                </a:r>
                <a:endPara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</p:grp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rcRect l="10799"/>
            <a:stretch>
              <a:fillRect/>
            </a:stretch>
          </p:blipFill>
          <p:spPr>
            <a:xfrm>
              <a:off x="8142" y="6418"/>
              <a:ext cx="10626" cy="2070"/>
            </a:xfrm>
            <a:prstGeom prst="rect">
              <a:avLst/>
            </a:prstGeom>
          </p:spPr>
        </p:pic>
      </p:grpSp>
      <p:sp>
        <p:nvSpPr>
          <p:cNvPr id="28" name="圆角矩形 27"/>
          <p:cNvSpPr/>
          <p:nvPr/>
        </p:nvSpPr>
        <p:spPr>
          <a:xfrm>
            <a:off x="5571490" y="5511800"/>
            <a:ext cx="4972685" cy="45593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8079740" y="5220970"/>
            <a:ext cx="2540" cy="305435"/>
          </a:xfrm>
          <a:prstGeom prst="straightConnector1">
            <a:avLst/>
          </a:prstGeom>
          <a:ln w="47625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700395" y="5530215"/>
            <a:ext cx="4613910" cy="4006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12000"/>
              </a:lnSpc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最后实现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insertCharge()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，插入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更新收费表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41020" y="6191250"/>
            <a:ext cx="10971530" cy="532130"/>
            <a:chOff x="350" y="9825"/>
            <a:chExt cx="17278" cy="838"/>
          </a:xfrm>
        </p:grpSpPr>
        <p:sp>
          <p:nvSpPr>
            <p:cNvPr id="31" name="圆角矩形 30"/>
            <p:cNvSpPr/>
            <p:nvPr/>
          </p:nvSpPr>
          <p:spPr>
            <a:xfrm>
              <a:off x="350" y="9825"/>
              <a:ext cx="14957" cy="839"/>
            </a:xfrm>
            <a:prstGeom prst="roundRect">
              <a:avLst/>
            </a:prstGeom>
            <a:noFill/>
            <a:ln w="34925">
              <a:solidFill>
                <a:srgbClr val="0C234C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74" y="9924"/>
              <a:ext cx="1715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>
                  <a:latin typeface="思源黑体 CN Bold" panose="020B0800000000000000" charset="-122"/>
                  <a:ea typeface="思源黑体 CN Bold" panose="020B0800000000000000" charset="-122"/>
                </a:rPr>
                <a:t>医生提交一次病历，系统同时保存病历、生成收费、生成处方，并更新挂号状态。</a:t>
              </a:r>
              <a:endParaRPr lang="zh-CN" altLang="en-US" sz="2000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患者缴费与收费查询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134620" y="1653540"/>
            <a:ext cx="11727180" cy="3878580"/>
            <a:chOff x="212" y="2224"/>
            <a:chExt cx="18468" cy="6108"/>
          </a:xfrm>
        </p:grpSpPr>
        <p:sp>
          <p:nvSpPr>
            <p:cNvPr id="14" name="圆角矩形 13"/>
            <p:cNvSpPr/>
            <p:nvPr/>
          </p:nvSpPr>
          <p:spPr>
            <a:xfrm>
              <a:off x="579" y="7202"/>
              <a:ext cx="6319" cy="902"/>
            </a:xfrm>
            <a:prstGeom prst="roundRect">
              <a:avLst>
                <a:gd name="adj" fmla="val 50000"/>
              </a:avLst>
            </a:prstGeom>
            <a:solidFill>
              <a:srgbClr val="0C234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" y="3081"/>
              <a:ext cx="9499" cy="3964"/>
            </a:xfrm>
            <a:prstGeom prst="rect">
              <a:avLst/>
            </a:prstGeom>
          </p:spPr>
        </p:pic>
        <p:sp>
          <p:nvSpPr>
            <p:cNvPr id="5" name="圆角矩形 4"/>
            <p:cNvSpPr/>
            <p:nvPr/>
          </p:nvSpPr>
          <p:spPr>
            <a:xfrm>
              <a:off x="212" y="2224"/>
              <a:ext cx="18468" cy="6109"/>
            </a:xfrm>
            <a:prstGeom prst="roundRect">
              <a:avLst>
                <a:gd name="adj" fmla="val 6920"/>
              </a:avLst>
            </a:prstGeom>
            <a:noFill/>
            <a:ln w="44450" cmpd="thickThin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151" y="2509"/>
              <a:ext cx="747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接收患者收费页面请求</a:t>
              </a:r>
              <a:endParaRPr lang="zh-CN" altLang="en-US" sz="2000">
                <a:solidFill>
                  <a:srgbClr val="2F5597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30" y="2365"/>
              <a:ext cx="8000" cy="580"/>
            </a:xfrm>
            <a:prstGeom prst="rect">
              <a:avLst/>
            </a:prstGeom>
          </p:spPr>
          <p:txBody>
            <a:bodyPr>
              <a:spAutoFit/>
            </a:bodyPr>
            <a:p>
              <a:r>
                <a:rPr lang="en-US" altLang="zh-CN">
                  <a:solidFill>
                    <a:srgbClr val="153770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controller/PatientPortalController.java</a:t>
              </a:r>
              <a:endPara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316" y="3173"/>
              <a:ext cx="7723" cy="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457200" fontAlgn="auto">
                <a:lnSpc>
                  <a:spcPct val="120000"/>
                </a:lnSpc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接受请求，获取患者姓名，传入</a:t>
              </a:r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action</a:t>
              </a: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。之后对</a:t>
              </a:r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action</a:t>
              </a: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类型进行判断</a:t>
              </a:r>
              <a:endPara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151" y="4399"/>
              <a:ext cx="747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action=pay </a:t>
              </a:r>
              <a:r>
                <a:rPr lang="zh-CN" altLang="en-US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查询收费并</a:t>
              </a:r>
              <a:r>
                <a:rPr lang="zh-CN" altLang="en-US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校验</a:t>
              </a:r>
              <a:endParaRPr lang="zh-CN" altLang="en-US" sz="2000">
                <a:solidFill>
                  <a:srgbClr val="2F5597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316" y="5063"/>
              <a:ext cx="7723" cy="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457200" fontAlgn="auto">
                <a:lnSpc>
                  <a:spcPct val="120000"/>
                </a:lnSpc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判断收费记录不为空，并且收费记录里的患者姓名等于当前登录患者姓名。</a:t>
              </a:r>
              <a:endPara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151" y="6289"/>
              <a:ext cx="817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管理员条件查询</a:t>
              </a:r>
              <a:r>
                <a:rPr lang="en-US" altLang="zh-CN" sz="2000">
                  <a:solidFill>
                    <a:srgbClr val="2F5597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-ChargeController.java</a:t>
              </a:r>
              <a:endParaRPr lang="en-US" altLang="zh-CN" sz="2000">
                <a:solidFill>
                  <a:srgbClr val="2F5597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316" y="6953"/>
              <a:ext cx="7723" cy="1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457200" fontAlgn="auto">
                <a:lnSpc>
                  <a:spcPct val="120000"/>
                </a:lnSpc>
                <a:extLst>
                  <a:ext uri="{35155182-B16C-46BC-9424-99874614C6A1}">
                    <wpsdc:indentchars xmlns:wpsdc="http://www.wps.cn/officeDocument/2017/drawingmlCustomData" val="200" checksum="59296752"/>
                  </a:ext>
                </a:extLst>
              </a:pP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判断是否有任意查询条件，有条件时调用</a:t>
              </a:r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findByCondition()</a:t>
              </a:r>
              <a:r>
                <a:rPr lang="zh-CN" altLang="en-US"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查询</a:t>
              </a:r>
              <a:endPara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45" y="7350"/>
              <a:ext cx="572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对应 </a:t>
              </a:r>
              <a:r>
                <a:rPr lang="en-US" altLang="zh-CN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SQL </a:t>
              </a:r>
              <a:r>
                <a:rPr lang="zh-CN" altLang="en-US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在 </a:t>
              </a:r>
              <a:r>
                <a:rPr lang="en-US" altLang="zh-CN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ChargeMapper.xml</a:t>
              </a:r>
              <a:endPara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sp>
        <p:nvSpPr>
          <p:cNvPr id="17" name="圆角矩形 16"/>
          <p:cNvSpPr/>
          <p:nvPr/>
        </p:nvSpPr>
        <p:spPr>
          <a:xfrm>
            <a:off x="2727325" y="942340"/>
            <a:ext cx="2839720" cy="51816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445885" y="928370"/>
            <a:ext cx="2839720" cy="51308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648960" y="869315"/>
            <a:ext cx="9017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＋</a:t>
            </a:r>
            <a:endParaRPr lang="zh-CN" altLang="en-US" sz="40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16275" y="1005840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患者缴费模块</a:t>
            </a:r>
            <a:endParaRPr lang="zh-CN" altLang="en-US" sz="20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52920" y="986790"/>
            <a:ext cx="2432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管理员</a:t>
            </a:r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查询模块</a:t>
            </a:r>
            <a:endParaRPr lang="zh-CN" altLang="en-US" sz="20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67665" y="5783580"/>
            <a:ext cx="10427970" cy="755650"/>
          </a:xfrm>
          <a:prstGeom prst="roundRect">
            <a:avLst>
              <a:gd name="adj" fmla="val 28151"/>
            </a:avLst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00075" y="5958840"/>
            <a:ext cx="102895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患者端负责本人缴费，管理员端负责条件查询，收费状态又会影响下一步药剂师能否发药</a:t>
            </a:r>
            <a:endParaRPr lang="zh-CN" altLang="en-US" sz="20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7150" y="1209040"/>
            <a:ext cx="2559050" cy="0"/>
          </a:xfrm>
          <a:prstGeom prst="line">
            <a:avLst/>
          </a:prstGeom>
          <a:ln w="53975">
            <a:solidFill>
              <a:srgbClr val="0C234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9632950" y="1204595"/>
            <a:ext cx="2559050" cy="0"/>
          </a:xfrm>
          <a:prstGeom prst="line">
            <a:avLst/>
          </a:prstGeom>
          <a:ln w="53975">
            <a:solidFill>
              <a:srgbClr val="0C234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药品发放与库存控制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97510" y="5268595"/>
            <a:ext cx="1375410" cy="1347470"/>
            <a:chOff x="626" y="8297"/>
            <a:chExt cx="2166" cy="2122"/>
          </a:xfrm>
        </p:grpSpPr>
        <p:sp>
          <p:nvSpPr>
            <p:cNvPr id="2" name="椭圆 1"/>
            <p:cNvSpPr/>
            <p:nvPr/>
          </p:nvSpPr>
          <p:spPr>
            <a:xfrm>
              <a:off x="626" y="8297"/>
              <a:ext cx="2167" cy="2122"/>
            </a:xfrm>
            <a:prstGeom prst="ellipse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45" y="8651"/>
              <a:ext cx="1604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查询处方</a:t>
              </a:r>
              <a:endParaRPr lang="zh-CN" altLang="en-US" sz="28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851785" y="5268595"/>
            <a:ext cx="1375410" cy="1347470"/>
            <a:chOff x="4491" y="8297"/>
            <a:chExt cx="2166" cy="2122"/>
          </a:xfrm>
        </p:grpSpPr>
        <p:sp>
          <p:nvSpPr>
            <p:cNvPr id="5" name="椭圆 4"/>
            <p:cNvSpPr/>
            <p:nvPr/>
          </p:nvSpPr>
          <p:spPr>
            <a:xfrm>
              <a:off x="4491" y="8297"/>
              <a:ext cx="2167" cy="2122"/>
            </a:xfrm>
            <a:prstGeom prst="ellipse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773" y="8651"/>
              <a:ext cx="1604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查询</a:t>
              </a:r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缴费</a:t>
              </a:r>
              <a:endParaRPr lang="zh-CN" altLang="en-US" sz="28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06060" y="5268595"/>
            <a:ext cx="1375410" cy="1347470"/>
            <a:chOff x="8356" y="8297"/>
            <a:chExt cx="2166" cy="2122"/>
          </a:xfrm>
        </p:grpSpPr>
        <p:sp>
          <p:nvSpPr>
            <p:cNvPr id="6" name="椭圆 5"/>
            <p:cNvSpPr/>
            <p:nvPr/>
          </p:nvSpPr>
          <p:spPr>
            <a:xfrm>
              <a:off x="8356" y="8297"/>
              <a:ext cx="2167" cy="2122"/>
            </a:xfrm>
            <a:prstGeom prst="ellipse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664" y="8651"/>
              <a:ext cx="1604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扣除</a:t>
              </a:r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库存</a:t>
              </a:r>
              <a:endParaRPr lang="zh-CN" altLang="en-US" sz="28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760335" y="5268595"/>
            <a:ext cx="1375410" cy="1347470"/>
            <a:chOff x="12221" y="8297"/>
            <a:chExt cx="2166" cy="2122"/>
          </a:xfrm>
        </p:grpSpPr>
        <p:sp>
          <p:nvSpPr>
            <p:cNvPr id="7" name="椭圆 6"/>
            <p:cNvSpPr/>
            <p:nvPr/>
          </p:nvSpPr>
          <p:spPr>
            <a:xfrm>
              <a:off x="12221" y="8297"/>
              <a:ext cx="2167" cy="2122"/>
            </a:xfrm>
            <a:prstGeom prst="ellipse">
              <a:avLst/>
            </a:prstGeom>
            <a:solidFill>
              <a:srgbClr val="0C234C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502" y="8651"/>
              <a:ext cx="1604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标记</a:t>
              </a:r>
              <a:r>
                <a:rPr lang="zh-CN" altLang="en-US" sz="28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</a:rPr>
                <a:t>发药</a:t>
              </a:r>
              <a:endParaRPr lang="zh-CN" altLang="en-US" sz="28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cxnSp>
        <p:nvCxnSpPr>
          <p:cNvPr id="21" name="直接箭头连接符 20"/>
          <p:cNvCxnSpPr/>
          <p:nvPr/>
        </p:nvCxnSpPr>
        <p:spPr>
          <a:xfrm>
            <a:off x="1953895" y="5941695"/>
            <a:ext cx="716915" cy="0"/>
          </a:xfrm>
          <a:prstGeom prst="straightConnector1">
            <a:avLst/>
          </a:prstGeom>
          <a:ln w="76200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408170" y="5941695"/>
            <a:ext cx="716915" cy="0"/>
          </a:xfrm>
          <a:prstGeom prst="straightConnector1">
            <a:avLst/>
          </a:prstGeom>
          <a:ln w="76200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6862445" y="5941695"/>
            <a:ext cx="716915" cy="0"/>
          </a:xfrm>
          <a:prstGeom prst="straightConnector1">
            <a:avLst/>
          </a:prstGeom>
          <a:ln w="76200">
            <a:solidFill>
              <a:srgbClr val="0C234C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273050" y="1252855"/>
            <a:ext cx="5836920" cy="3832860"/>
            <a:chOff x="626" y="1787"/>
            <a:chExt cx="9192" cy="6036"/>
          </a:xfrm>
        </p:grpSpPr>
        <p:grpSp>
          <p:nvGrpSpPr>
            <p:cNvPr id="27" name="组合 26"/>
            <p:cNvGrpSpPr/>
            <p:nvPr/>
          </p:nvGrpSpPr>
          <p:grpSpPr>
            <a:xfrm>
              <a:off x="626" y="1787"/>
              <a:ext cx="9014" cy="6037"/>
              <a:chOff x="311" y="1416"/>
              <a:chExt cx="9318" cy="6241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1" y="1416"/>
                <a:ext cx="9319" cy="4906"/>
              </a:xfrm>
              <a:prstGeom prst="rect">
                <a:avLst/>
              </a:prstGeom>
            </p:spPr>
          </p:pic>
          <p:sp>
            <p:nvSpPr>
              <p:cNvPr id="24" name="矩形 23"/>
              <p:cNvSpPr/>
              <p:nvPr/>
            </p:nvSpPr>
            <p:spPr>
              <a:xfrm>
                <a:off x="311" y="6299"/>
                <a:ext cx="9319" cy="1359"/>
              </a:xfrm>
              <a:prstGeom prst="rect">
                <a:avLst/>
              </a:prstGeom>
              <a:solidFill>
                <a:srgbClr val="021C4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626" y="6731"/>
              <a:ext cx="9193" cy="1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406400" fontAlgn="auto">
                <a:lnSpc>
                  <a:spcPct val="115000"/>
                </a:lnSpc>
                <a:extLst>
                  <a:ext uri="{35155182-B16C-46BC-9424-99874614C6A1}">
                    <wpsdc:indentchars xmlns:wpsdc="http://www.wps.cn/officeDocument/2017/drawingmlCustomData" val="200" checksum="1740828767"/>
                  </a:ext>
                </a:extLst>
              </a:pP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通过</a:t>
              </a:r>
              <a:r>
                <a:rPr lang="en-US" altLang="zh-CN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action</a:t>
              </a: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判断药师是否发药</a:t>
              </a:r>
              <a:r>
                <a:rPr lang="en-US" altLang="zh-CN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判断处方记录</a:t>
              </a:r>
              <a:r>
                <a:rPr lang="en-US" altLang="zh-CN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判断患者是否有未缴费记录</a:t>
              </a:r>
              <a:r>
                <a:rPr lang="en-US" altLang="zh-CN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-&gt;</a:t>
              </a:r>
              <a:r>
                <a:rPr lang="zh-CN" altLang="en-US" sz="160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执行发药</a:t>
              </a:r>
              <a:endPara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73050" y="835660"/>
            <a:ext cx="53708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>
                <a:solidFill>
                  <a:srgbClr val="0C234C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controller/MedicineDispenseController.java</a:t>
            </a:r>
            <a:endParaRPr lang="en-US" altLang="zh-CN">
              <a:solidFill>
                <a:srgbClr val="0C234C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77940" y="1203960"/>
            <a:ext cx="53708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impl/MedicineDispenseServiceImpl.java</a:t>
            </a:r>
            <a:endParaRPr lang="en-US" altLang="zh-CN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19215" y="237585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800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impl/ChargeServiceImpl.java</a:t>
            </a:r>
            <a:endParaRPr lang="en-US" altLang="zh-CN" sz="1800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70650" y="1596390"/>
            <a:ext cx="502793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2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调用decreaseStock()扣减库存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algn="l">
              <a:lnSpc>
                <a:spcPct val="12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调用markDispensed()标记处方已发放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99225" y="2732405"/>
            <a:ext cx="513715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通过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countUnpaidByPatientName()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统计未缴费记录数量，只要数量大于 0 就表示不能发药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377940" y="3830955"/>
            <a:ext cx="5666740" cy="129159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470650" y="3898265"/>
            <a:ext cx="5419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库存扣减 </a:t>
            </a:r>
            <a:r>
              <a:rPr lang="en-US" altLang="zh-CN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 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在</a:t>
            </a:r>
            <a:r>
              <a:rPr lang="en-US" altLang="zh-CN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MedicineDispenseMapper.xml</a:t>
            </a:r>
            <a:endParaRPr lang="en-US" altLang="zh-CN">
              <a:solidFill>
                <a:schemeClr val="accent1">
                  <a:lumMod val="60000"/>
                  <a:lumOff val="40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470650" y="4257675"/>
            <a:ext cx="541909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AND stock &gt;= #{quantity}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是关键条件，它保证库存必须大于等于发药数量，防止库存扣成负数。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组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5428"/>
            <a:ext cx="12192000" cy="3827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69073" y="2054225"/>
            <a:ext cx="92538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PART 0</a:t>
            </a:r>
            <a:r>
              <a:rPr lang="en-US" altLang="zh-CN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2</a:t>
            </a:r>
            <a:endParaRPr lang="zh-CN" altLang="en-US" sz="7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pPr algn="ctr">
              <a:defRPr/>
            </a:pP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项目过程问题</a:t>
            </a: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解决</a:t>
            </a:r>
            <a:endParaRPr lang="zh-CN" altLang="en-US" sz="7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4348" y="431927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University academic reporting graduation reply template</a:t>
            </a:r>
            <a:endParaRPr lang="zh-CN" altLang="en-US" sz="1600">
              <a:solidFill>
                <a:schemeClr val="bg1"/>
              </a:solidFill>
              <a:latin typeface="思源宋体 CN Light" panose="02020300000000000000" charset="-122"/>
              <a:ea typeface="思源宋体 CN Light" panose="020203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173990" y="960755"/>
            <a:ext cx="11880850" cy="1700530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17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en-US" altLang="zh-CN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SSM 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迁移后静态资源和请求入口被拦截的问题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3050" y="989965"/>
            <a:ext cx="11468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从原来的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Servlet + DAO + DBUtil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项目迁移到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SSM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后，所有请求都交给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Spring MVC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的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DispatcherServlet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处理。开发时容易出现两个问题：</a:t>
            </a:r>
            <a:endParaRPr lang="en-US" altLang="zh-CN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algn="l" fontAlgn="auto">
              <a:lnSpc>
                <a:spcPct val="125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JSP 页面能打开，但 CSS、JS、图片加载失败，页面样式丢失。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algn="l" fontAlgn="auto">
              <a:lnSpc>
                <a:spcPct val="125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登录页、注册页或静态资源也被登录拦截器拦截，导致未登录状态下页面显示异常。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6550" y="2787015"/>
            <a:ext cx="1171829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SSM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项目中，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DispatcherServlet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接管了大部分请求。如果没有显式放行静态资源，/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css/style.css、/js/jquery.min.js、/images/*.png`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这些路径可能会被当作普通业务请求处理。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3791585"/>
            <a:ext cx="5227955" cy="11664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905" y="3791585"/>
            <a:ext cx="5528310" cy="11658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36550" y="4933950"/>
            <a:ext cx="5227955" cy="857250"/>
          </a:xfrm>
          <a:prstGeom prst="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966460" y="4933950"/>
            <a:ext cx="5533390" cy="857250"/>
          </a:xfrm>
          <a:prstGeom prst="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23875" y="4958080"/>
            <a:ext cx="486981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启用默认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Servlet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处理能力，分别放行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CSS、JS、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图片和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HTML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静态资源。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61075" y="4965700"/>
            <a:ext cx="536575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2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大部分请求都要经过LoginInterceptor。这保证了系统有统一的登录和权限校验入口。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3875" y="5916295"/>
            <a:ext cx="955167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200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在LoginInterceptor.java第 55 到 65 行定义公共路径，把登录、注册和静态资源排除在登录校验之外。</a:t>
            </a:r>
            <a:endParaRPr lang="en-US" altLang="zh-CN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3228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多角色系统只隐藏菜单不够，用户可能 </a:t>
              </a:r>
              <a:r>
                <a:rPr lang="en-US" altLang="zh-CN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URL </a:t>
              </a: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越权访问的问题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73990" y="960755"/>
            <a:ext cx="11880850" cy="1603375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73050" y="989965"/>
            <a:ext cx="11468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系统中有管理员、患者、医生、药剂师四类角色。开发时如果只在首页菜单中控制“谁能看到哪些按钮”，会出现一个安全问题：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患者虽然看不到管理员菜单，但如果手动输入 /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patients、/doctors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等地址，仍可能访问不属于自己的功能。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医生或药剂师也可能通过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URL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直接访问其他角色页面。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3050" y="2701290"/>
            <a:ext cx="1191831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角色控制要形成一条完整链路</a:t>
            </a:r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User.role 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字段 -&gt; 登录成功写入 </a:t>
            </a:r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Session -&gt; 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拦截器判断路径和角色 -&gt; </a:t>
            </a:r>
            <a:r>
              <a:rPr lang="en-US" altLang="zh-CN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main.jsp </a:t>
            </a:r>
            <a:r>
              <a:rPr lang="zh-CN" altLang="en-US">
                <a:solidFill>
                  <a:srgbClr val="15377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根据角色显示菜单</a:t>
            </a:r>
            <a:endParaRPr lang="zh-CN" altLang="en-US">
              <a:solidFill>
                <a:srgbClr val="153770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3990" y="3594735"/>
            <a:ext cx="7658100" cy="2563495"/>
          </a:xfrm>
          <a:prstGeom prst="roundRect">
            <a:avLst>
              <a:gd name="adj" fmla="val 10510"/>
            </a:avLst>
          </a:prstGeom>
          <a:noFill/>
          <a:ln w="38100">
            <a:solidFill>
              <a:srgbClr val="0C234C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140" y="3594100"/>
            <a:ext cx="747395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5080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1. 在 `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User`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模型中保存 `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role`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字段。</a:t>
            </a:r>
            <a:endParaRPr lang="zh-CN" altLang="en-US" sz="20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5080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2. 默认账号和普通注册用户都写入正确角色。</a:t>
            </a:r>
            <a:endParaRPr lang="zh-CN" altLang="en-US" sz="20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5080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3. 登录成功后把完整 `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User`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对象保存到 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Session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的 `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loginUser`。</a:t>
            </a:r>
            <a:endParaRPr lang="en-US" altLang="zh-CN" sz="20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5080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4. 使用 `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LoginInterceptor`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在请求进入 </a:t>
            </a:r>
            <a:r>
              <a:rPr lang="en-US" altLang="zh-CN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 </a:t>
            </a:r>
            <a:r>
              <a:rPr lang="zh-CN" altLang="en-US" sz="20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前判断当前用户角色是否有权限访问当前路径。</a:t>
            </a:r>
            <a:endParaRPr lang="zh-CN" altLang="en-US" sz="20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033385" y="3292475"/>
            <a:ext cx="3982720" cy="3001645"/>
          </a:xfrm>
          <a:prstGeom prst="roundRect">
            <a:avLst>
              <a:gd name="adj" fmla="val 11744"/>
            </a:avLst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087995" y="3362960"/>
            <a:ext cx="3928110" cy="2630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真正的权限判断在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LoginInterceptor.java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完成。请求进入 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Controller 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前，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拦截器会判断用户是否登录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，以及当前路径是否属于当前角色。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最后，</a:t>
            </a:r>
            <a:r>
              <a:rPr lang="en-US" altLang="zh-CN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main.jsp 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根据角色显示不同菜单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。这样前端菜单和后端权限形成了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双重控制</a:t>
            </a: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0"/>
            <a:ext cx="11748770" cy="755015"/>
            <a:chOff x="0" y="0"/>
            <a:chExt cx="18502" cy="1189"/>
          </a:xfrm>
        </p:grpSpPr>
        <p:pic>
          <p:nvPicPr>
            <p:cNvPr id="8" name="图片 7" descr="组 4"/>
            <p:cNvPicPr>
              <a:picLocks noChangeAspect="1"/>
            </p:cNvPicPr>
            <p:nvPr/>
          </p:nvPicPr>
          <p:blipFill>
            <a:blip r:embed="rId1"/>
            <a:srcRect r="65417" b="56898"/>
            <a:stretch>
              <a:fillRect/>
            </a:stretch>
          </p:blipFill>
          <p:spPr>
            <a:xfrm>
              <a:off x="0" y="0"/>
              <a:ext cx="1689" cy="1187"/>
            </a:xfrm>
            <a:prstGeom prst="rect">
              <a:avLst/>
            </a:prstGeom>
          </p:spPr>
        </p:pic>
        <p:sp>
          <p:nvSpPr>
            <p:cNvPr id="26" name="Title 1"/>
            <p:cNvSpPr txBox="1"/>
            <p:nvPr/>
          </p:nvSpPr>
          <p:spPr>
            <a:xfrm>
              <a:off x="945" y="364"/>
              <a:ext cx="13579" cy="598"/>
            </a:xfrm>
            <a:prstGeom prst="rect">
              <a:avLst/>
            </a:prstGeom>
          </p:spPr>
          <p:txBody>
            <a:bodyPr lIns="0" rIns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3000" b="0" kern="1200">
                  <a:solidFill>
                    <a:schemeClr val="accent1"/>
                  </a:solidFill>
                  <a:latin typeface="U.S. 101" pitchFamily="2" charset="0"/>
                  <a:ea typeface="Roboto" panose="02000000000000000000" pitchFamily="2" charset="0"/>
                  <a:cs typeface="Open Sans Light" panose="020B0306030504020204" pitchFamily="34" charset="0"/>
                </a:defRPr>
              </a:lvl1pPr>
            </a:lstStyle>
            <a:p>
              <a:pPr algn="l">
                <a:defRPr/>
              </a:pPr>
              <a:r>
                <a:rPr lang="zh-CN" altLang="en-US" sz="2400" dirty="0">
                  <a:solidFill>
                    <a:srgbClr val="153770"/>
                  </a:solidFill>
                  <a:latin typeface="思源宋体 CN Heavy" panose="02020900000000000000" charset="-122"/>
                  <a:ea typeface="思源宋体 CN Heavy" panose="02020900000000000000" charset="-122"/>
                  <a:cs typeface="+mn-ea"/>
                  <a:sym typeface="+mn-lt"/>
                </a:rPr>
                <a:t>药品发放涉及缴费状态和库存扣减，容易数据不一致的问题</a:t>
              </a:r>
              <a:endParaRPr lang="zh-CN" altLang="en-US" sz="2400" dirty="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430" y="1189"/>
              <a:ext cx="18072" cy="0"/>
            </a:xfrm>
            <a:prstGeom prst="line">
              <a:avLst/>
            </a:prstGeom>
            <a:ln w="19050" cmpd="sng">
              <a:solidFill>
                <a:srgbClr val="15377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组合 34"/>
            <p:cNvGrpSpPr/>
            <p:nvPr/>
          </p:nvGrpSpPr>
          <p:grpSpPr>
            <a:xfrm>
              <a:off x="17149" y="555"/>
              <a:ext cx="1176" cy="216"/>
              <a:chOff x="16717" y="534"/>
              <a:chExt cx="1176" cy="216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16717" y="534"/>
                <a:ext cx="217" cy="217"/>
              </a:xfrm>
              <a:prstGeom prst="ellipse">
                <a:avLst/>
              </a:prstGeom>
              <a:solidFill>
                <a:srgbClr val="21689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7197" y="534"/>
                <a:ext cx="217" cy="217"/>
              </a:xfrm>
              <a:prstGeom prst="ellipse">
                <a:avLst/>
              </a:prstGeom>
              <a:solidFill>
                <a:srgbClr val="1537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677" y="534"/>
                <a:ext cx="217" cy="217"/>
              </a:xfrm>
              <a:prstGeom prst="ellipse">
                <a:avLst/>
              </a:prstGeom>
              <a:solidFill>
                <a:srgbClr val="B99E5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pic>
        <p:nvPicPr>
          <p:cNvPr id="25" name="图片 24" descr="组 4"/>
          <p:cNvPicPr>
            <a:picLocks noChangeAspect="1"/>
          </p:cNvPicPr>
          <p:nvPr/>
        </p:nvPicPr>
        <p:blipFill>
          <a:blip r:embed="rId1"/>
          <a:srcRect l="66919" t="60008"/>
          <a:stretch>
            <a:fillRect/>
          </a:stretch>
        </p:blipFill>
        <p:spPr>
          <a:xfrm>
            <a:off x="9476740" y="5026025"/>
            <a:ext cx="2687955" cy="183197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73990" y="960755"/>
            <a:ext cx="11880850" cy="1603375"/>
          </a:xfrm>
          <a:prstGeom prst="roundRect">
            <a:avLst/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73050" y="989965"/>
            <a:ext cx="11468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药品发放不是普通的新增记录，它同时涉及收费状态、处方状态和药品库存。开发时容易出现三个问题：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患者还没缴费，药剂师就能发药。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药品库存不足时仍然发药，导致库存变成负数。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5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扣了库存但发药记录没有正确更新，数据不一致。</a:t>
            </a:r>
            <a:endParaRPr lang="zh-CN" altLang="en-US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3050" y="2914015"/>
            <a:ext cx="4265930" cy="27482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1. Controller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层先检查患者是否存在未缴费记录，未缴费则禁止发药。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2. Service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层使用@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Transactional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保证扣库存和标记发药处于同一个事务中。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57200" fontAlgn="auto">
              <a:lnSpc>
                <a:spcPct val="12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3. Mapper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层在 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 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中加入</a:t>
            </a:r>
            <a:r>
              <a:rPr lang="en-US" altLang="zh-CN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stock &gt;= quantity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条件，从数据库层防止库存扣成负数。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73990" y="2845435"/>
            <a:ext cx="4364990" cy="2943225"/>
          </a:xfrm>
          <a:prstGeom prst="roundRect">
            <a:avLst>
              <a:gd name="adj" fmla="val 10510"/>
            </a:avLst>
          </a:prstGeom>
          <a:noFill/>
          <a:ln w="38100">
            <a:solidFill>
              <a:srgbClr val="0C234C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846320" y="2701290"/>
            <a:ext cx="6901815" cy="3418205"/>
          </a:xfrm>
          <a:prstGeom prst="roundRect">
            <a:avLst>
              <a:gd name="adj" fmla="val 6007"/>
            </a:avLst>
          </a:prstGeom>
          <a:solidFill>
            <a:srgbClr val="0C234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29835" y="2769870"/>
            <a:ext cx="6589395" cy="3290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06400" fontAlgn="auto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在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MedicineDispenseController.java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先查询处方，调用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chargeService.hasUnpaid()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判断患者</a:t>
            </a:r>
            <a:r>
              <a:rPr lang="zh-CN" altLang="en-US" sz="160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是否还有未缴费记录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。如果有未缴费，直接返回错误，不允许发药。</a:t>
            </a:r>
            <a:endParaRPr lang="en-US" altLang="zh-CN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06400" fontAlgn="auto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MedicineDispenseServiceImpl.java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这里使用@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Transactional`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保证事务一致性。之后扣减库存，</a:t>
            </a:r>
            <a:r>
              <a:rPr lang="zh-CN" altLang="en-US" sz="160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判断扣减是否成功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，如果库存不足就抛出异常。只有在</a:t>
            </a:r>
            <a:r>
              <a:rPr lang="zh-CN" altLang="en-US" sz="160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库存扣减成功后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才标记处方已发放。</a:t>
            </a:r>
            <a:endParaRPr lang="en-US" altLang="zh-CN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  <a:p>
            <a:pPr indent="406400" fontAlgn="auto">
              <a:lnSpc>
                <a:spcPct val="13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最后，真正防止库存变成负数的是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MedicineDispenseMapper.xml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的 `</a:t>
            </a:r>
            <a:r>
              <a:rPr lang="en-US" altLang="zh-CN" sz="1600">
                <a:solidFill>
                  <a:schemeClr val="accent1">
                    <a:lumMod val="60000"/>
                    <a:lumOff val="40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AND stock &gt;= #{quantity}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`。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这个条件保证库存不足时 </a:t>
            </a:r>
            <a:r>
              <a:rPr lang="en-US" altLang="zh-CN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SQL </a:t>
            </a:r>
            <a:r>
              <a:rPr lang="zh-CN" altLang="en-US" sz="160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不会更新任何记录，从数据库层防止错误扣减。</a:t>
            </a:r>
            <a:endParaRPr lang="zh-CN" altLang="en-US" sz="160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组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5428"/>
            <a:ext cx="12192000" cy="3827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69073" y="2054225"/>
            <a:ext cx="925385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PART 0</a:t>
            </a:r>
            <a:r>
              <a:rPr lang="en-US" altLang="zh-CN" sz="700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3</a:t>
            </a:r>
            <a:endParaRPr lang="zh-CN" altLang="en-US" sz="700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  <a:p>
            <a:pPr algn="ctr">
              <a:defRPr/>
            </a:pP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项目成果</a:t>
            </a:r>
            <a:r>
              <a:rPr lang="zh-CN" altLang="en-US" sz="7000" dirty="0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展示</a:t>
            </a:r>
            <a:endParaRPr lang="zh-CN" altLang="en-US" sz="7000" dirty="0">
              <a:solidFill>
                <a:schemeClr val="bg1"/>
              </a:solidFill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34348" y="431927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bg1"/>
                </a:solidFill>
                <a:latin typeface="思源宋体 CN Light" panose="02020300000000000000" charset="-122"/>
                <a:ea typeface="思源宋体 CN Light" panose="02020300000000000000" charset="-122"/>
              </a:rPr>
              <a:t>University academic reporting graduation reply template</a:t>
            </a:r>
            <a:endParaRPr lang="zh-CN" altLang="en-US" sz="1600">
              <a:solidFill>
                <a:schemeClr val="bg1"/>
              </a:solidFill>
              <a:latin typeface="思源宋体 CN Light" panose="02020300000000000000" charset="-122"/>
              <a:ea typeface="思源宋体 CN Light" panose="020203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椭圆 4">
            <a:hlinkClick r:id="rId2"/>
          </p:cNvPr>
          <p:cNvSpPr/>
          <p:nvPr/>
        </p:nvSpPr>
        <p:spPr>
          <a:xfrm>
            <a:off x="11392535" y="6236335"/>
            <a:ext cx="456565" cy="456565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" grpId="0"/>
      <p:bldP spid="3" grpId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组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83080" y="1645285"/>
            <a:ext cx="8774430" cy="1841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auto">
              <a:lnSpc>
                <a:spcPct val="130000"/>
              </a:lnSpc>
            </a:pP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基于 </a:t>
            </a:r>
            <a:r>
              <a:rPr lang="en-US" altLang="zh-CN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SSM </a:t>
            </a: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的</a:t>
            </a:r>
            <a:r>
              <a:rPr lang="zh-CN" altLang="en-US" sz="4800">
                <a:solidFill>
                  <a:srgbClr val="153770"/>
                </a:solidFill>
                <a:latin typeface="思源宋体 CN Heavy" panose="02020900000000000000" charset="-122"/>
                <a:ea typeface="思源宋体 CN Heavy" panose="02020900000000000000" charset="-122"/>
              </a:rPr>
              <a:t>社区医院管理系统设计与实现</a:t>
            </a:r>
            <a:endParaRPr lang="zh-CN" altLang="en-US" sz="4800">
              <a:solidFill>
                <a:srgbClr val="153770"/>
              </a:solidFill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0435" y="5194935"/>
            <a:ext cx="1028382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35000"/>
              </a:lnSpc>
            </a:pP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23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级计算机科学与技术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02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班    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   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</a:t>
            </a:r>
            <a:r>
              <a:rPr lang="en-US" altLang="zh-CN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         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组别：</a:t>
            </a:r>
            <a:r>
              <a:rPr lang="zh-CN" altLang="en-US" sz="16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四组</a:t>
            </a:r>
            <a:endParaRPr lang="zh-CN" altLang="en-US" sz="16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533775" y="4091940"/>
            <a:ext cx="5124450" cy="558800"/>
            <a:chOff x="5565" y="6444"/>
            <a:chExt cx="8070" cy="880"/>
          </a:xfrm>
        </p:grpSpPr>
        <p:grpSp>
          <p:nvGrpSpPr>
            <p:cNvPr id="16" name="组合 15"/>
            <p:cNvGrpSpPr/>
            <p:nvPr/>
          </p:nvGrpSpPr>
          <p:grpSpPr>
            <a:xfrm>
              <a:off x="5565" y="6444"/>
              <a:ext cx="8070" cy="880"/>
              <a:chOff x="5565" y="6444"/>
              <a:chExt cx="8070" cy="880"/>
            </a:xfrm>
          </p:grpSpPr>
          <p:pic>
            <p:nvPicPr>
              <p:cNvPr id="13" name="图片 12" descr="组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65" y="6444"/>
                <a:ext cx="8070" cy="880"/>
              </a:xfrm>
              <a:prstGeom prst="rect">
                <a:avLst/>
              </a:prstGeom>
            </p:spPr>
          </p:pic>
          <p:sp>
            <p:nvSpPr>
              <p:cNvPr id="11" name="文本框 10"/>
              <p:cNvSpPr txBox="1"/>
              <p:nvPr/>
            </p:nvSpPr>
            <p:spPr>
              <a:xfrm>
                <a:off x="6285" y="6522"/>
                <a:ext cx="663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2000">
                    <a:solidFill>
                      <a:srgbClr val="68552E"/>
                    </a:solidFill>
                    <a:latin typeface="思源宋体 CN Heavy" panose="02020900000000000000" charset="-122"/>
                    <a:ea typeface="思源宋体 CN Heavy" panose="02020900000000000000" charset="-122"/>
                  </a:rPr>
                  <a:t>医疗信息化项目</a:t>
                </a:r>
                <a:r>
                  <a:rPr lang="zh-CN" altLang="en-US" sz="2000">
                    <a:solidFill>
                      <a:srgbClr val="68552E"/>
                    </a:solidFill>
                    <a:latin typeface="思源宋体 CN Heavy" panose="02020900000000000000" charset="-122"/>
                    <a:ea typeface="思源宋体 CN Heavy" panose="02020900000000000000" charset="-122"/>
                  </a:rPr>
                  <a:t>实战</a:t>
                </a:r>
                <a:endParaRPr lang="zh-CN" altLang="en-US" sz="2000">
                  <a:solidFill>
                    <a:srgbClr val="68552E"/>
                  </a:solidFill>
                  <a:latin typeface="思源宋体 CN Heavy" panose="02020900000000000000" charset="-122"/>
                  <a:ea typeface="思源宋体 CN Heavy" panose="02020900000000000000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109" y="6790"/>
              <a:ext cx="6994" cy="188"/>
              <a:chOff x="6109" y="6781"/>
              <a:chExt cx="6994" cy="188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6109" y="6781"/>
                <a:ext cx="188" cy="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2915" y="6781"/>
                <a:ext cx="188" cy="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0782935" y="369570"/>
            <a:ext cx="746760" cy="137160"/>
            <a:chOff x="16717" y="534"/>
            <a:chExt cx="1176" cy="216"/>
          </a:xfrm>
        </p:grpSpPr>
        <p:sp>
          <p:nvSpPr>
            <p:cNvPr id="32" name="椭圆 31"/>
            <p:cNvSpPr/>
            <p:nvPr/>
          </p:nvSpPr>
          <p:spPr>
            <a:xfrm>
              <a:off x="16717" y="534"/>
              <a:ext cx="217" cy="217"/>
            </a:xfrm>
            <a:prstGeom prst="ellipse">
              <a:avLst/>
            </a:prstGeom>
            <a:solidFill>
              <a:srgbClr val="216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7197" y="534"/>
              <a:ext cx="217" cy="217"/>
            </a:xfrm>
            <a:prstGeom prst="ellipse">
              <a:avLst/>
            </a:prstGeom>
            <a:solidFill>
              <a:srgbClr val="1537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7677" y="534"/>
              <a:ext cx="217" cy="217"/>
            </a:xfrm>
            <a:prstGeom prst="ellipse">
              <a:avLst/>
            </a:prstGeom>
            <a:solidFill>
              <a:srgbClr val="B99E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" grpId="0"/>
      <p:bldP spid="5" grpId="1"/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2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3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4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5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6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7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8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9.xml><?xml version="1.0" encoding="utf-8"?>
<p:tagLst xmlns:p="http://schemas.openxmlformats.org/presentationml/2006/main">
  <p:tag name="KSO_WM_DIAGRAM_VIRTUALLY_FRAME" val="{&quot;height&quot;:231.55,&quot;left&quot;:27.15,&quot;top&quot;:263.05,&quot;width&quot;:887.6}"/>
</p:tagLst>
</file>

<file path=ppt/tags/tag10.xml><?xml version="1.0" encoding="utf-8"?>
<p:tagLst xmlns:p="http://schemas.openxmlformats.org/presentationml/2006/main">
  <p:tag name="ISPRING_PRESENTATION_TITLE" val="蓝色厦门大学论文答辩模板"/>
  <p:tag name="commondata" val="eyJoZGlkIjoiYjNkNDYxMmIwNmM5NTY2OTdkODYxNGM2OGY2YmI2OGYifQ==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qrpo5b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6162</Words>
  <Application>WPS 演示</Application>
  <PresentationFormat>自定义</PresentationFormat>
  <Paragraphs>371</Paragraphs>
  <Slides>23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7" baseType="lpstr">
      <vt:lpstr>Arial</vt:lpstr>
      <vt:lpstr>宋体</vt:lpstr>
      <vt:lpstr>Wingdings</vt:lpstr>
      <vt:lpstr>Calibri</vt:lpstr>
      <vt:lpstr>思源宋体 CN Heavy</vt:lpstr>
      <vt:lpstr>思源黑体 CN Bold</vt:lpstr>
      <vt:lpstr>思源宋体 CN Light</vt:lpstr>
      <vt:lpstr>U.S. 101</vt:lpstr>
      <vt:lpstr>汇文明朝体</vt:lpstr>
      <vt:lpstr>Roboto</vt:lpstr>
      <vt:lpstr>Times New Roman</vt:lpstr>
      <vt:lpstr>Open Sans Light</vt:lpstr>
      <vt:lpstr>思源黑体 CN Regular</vt:lpstr>
      <vt:lpstr>Wingdings</vt:lpstr>
      <vt:lpstr>微软雅黑</vt:lpstr>
      <vt:lpstr>Arial Unicode MS</vt:lpstr>
      <vt:lpstr>等线</vt:lpstr>
      <vt:lpstr>JetBrains Mono</vt:lpstr>
      <vt:lpstr>Calibri</vt:lpstr>
      <vt:lpstr>JetBrains Mono</vt:lpstr>
      <vt:lpstr>思源宋体 CN Light</vt:lpstr>
      <vt:lpstr>锦绣宋体</vt:lpstr>
      <vt:lpstr>Jetter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创意风毕业答辩PPT模板</dc:title>
  <dc:creator>包图网</dc:creator>
  <cp:lastModifiedBy>德克萨斯做得到吗！</cp:lastModifiedBy>
  <cp:revision>135</cp:revision>
  <dcterms:created xsi:type="dcterms:W3CDTF">2018-03-09T23:56:00Z</dcterms:created>
  <dcterms:modified xsi:type="dcterms:W3CDTF">2026-06-15T00:42:39Z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34F2A5BE807A4089B62EB037DAA8F33E_13</vt:lpwstr>
  </property>
  <property fmtid="{D5CDD505-2E9C-101B-9397-08002B2CF9AE}" pid="3" name="KSOProductBuildVer">
    <vt:lpwstr>2052-12.1.0.26895</vt:lpwstr>
  </property>
</Properties>
</file>